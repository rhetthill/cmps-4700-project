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73" r:id="rId11"/>
    <p:sldId id="265" r:id="rId12"/>
    <p:sldId id="266" r:id="rId13"/>
    <p:sldId id="267" r:id="rId14"/>
    <p:sldId id="268" r:id="rId15"/>
    <p:sldId id="269" r:id="rId16"/>
    <p:sldId id="270" r:id="rId17"/>
    <p:sldId id="271" r:id="rId18"/>
    <p:sldId id="272"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351"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E1B5B-D1BE-0FD4-E5F6-1D83A54F1B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42182B-A2B9-2867-7A05-4547E0A55E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0D5657-9F09-A2F1-0E63-A99439E11ABD}"/>
              </a:ext>
            </a:extLst>
          </p:cNvPr>
          <p:cNvSpPr>
            <a:spLocks noGrp="1"/>
          </p:cNvSpPr>
          <p:nvPr>
            <p:ph type="dt" sz="half" idx="10"/>
          </p:nvPr>
        </p:nvSpPr>
        <p:spPr/>
        <p:txBody>
          <a:bodyPr/>
          <a:lstStyle/>
          <a:p>
            <a:fld id="{BAA6759A-2932-41A6-931C-59D6E0CDFCCC}" type="datetimeFigureOut">
              <a:rPr lang="en-US" smtClean="0"/>
              <a:t>5/4/2025</a:t>
            </a:fld>
            <a:endParaRPr lang="en-US"/>
          </a:p>
        </p:txBody>
      </p:sp>
      <p:sp>
        <p:nvSpPr>
          <p:cNvPr id="5" name="Footer Placeholder 4">
            <a:extLst>
              <a:ext uri="{FF2B5EF4-FFF2-40B4-BE49-F238E27FC236}">
                <a16:creationId xmlns:a16="http://schemas.microsoft.com/office/drawing/2014/main" id="{CBDAD924-9B14-556F-E2FB-AFEABDBE23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40306F-574B-5797-E4D1-1DA73DC1C762}"/>
              </a:ext>
            </a:extLst>
          </p:cNvPr>
          <p:cNvSpPr>
            <a:spLocks noGrp="1"/>
          </p:cNvSpPr>
          <p:nvPr>
            <p:ph type="sldNum" sz="quarter" idx="12"/>
          </p:nvPr>
        </p:nvSpPr>
        <p:spPr/>
        <p:txBody>
          <a:bodyPr/>
          <a:lstStyle/>
          <a:p>
            <a:fld id="{091F89DD-3176-4B90-BAC6-3359EE504190}" type="slidenum">
              <a:rPr lang="en-US" smtClean="0"/>
              <a:t>‹#›</a:t>
            </a:fld>
            <a:endParaRPr lang="en-US"/>
          </a:p>
        </p:txBody>
      </p:sp>
    </p:spTree>
    <p:extLst>
      <p:ext uri="{BB962C8B-B14F-4D97-AF65-F5344CB8AC3E}">
        <p14:creationId xmlns:p14="http://schemas.microsoft.com/office/powerpoint/2010/main" val="2302278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9C0E7-80A0-3156-9E79-63B522953A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DAB391-8241-21B6-0F06-EB765DE5BA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90EF1D-38AD-FBE2-AD88-B7B6C2B427C2}"/>
              </a:ext>
            </a:extLst>
          </p:cNvPr>
          <p:cNvSpPr>
            <a:spLocks noGrp="1"/>
          </p:cNvSpPr>
          <p:nvPr>
            <p:ph type="dt" sz="half" idx="10"/>
          </p:nvPr>
        </p:nvSpPr>
        <p:spPr/>
        <p:txBody>
          <a:bodyPr/>
          <a:lstStyle/>
          <a:p>
            <a:fld id="{BAA6759A-2932-41A6-931C-59D6E0CDFCCC}" type="datetimeFigureOut">
              <a:rPr lang="en-US" smtClean="0"/>
              <a:t>5/4/2025</a:t>
            </a:fld>
            <a:endParaRPr lang="en-US"/>
          </a:p>
        </p:txBody>
      </p:sp>
      <p:sp>
        <p:nvSpPr>
          <p:cNvPr id="5" name="Footer Placeholder 4">
            <a:extLst>
              <a:ext uri="{FF2B5EF4-FFF2-40B4-BE49-F238E27FC236}">
                <a16:creationId xmlns:a16="http://schemas.microsoft.com/office/drawing/2014/main" id="{5E82088E-AAF5-D6CA-1AF0-4526A9D9E0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488E51-ACE6-8423-116F-292C91661E74}"/>
              </a:ext>
            </a:extLst>
          </p:cNvPr>
          <p:cNvSpPr>
            <a:spLocks noGrp="1"/>
          </p:cNvSpPr>
          <p:nvPr>
            <p:ph type="sldNum" sz="quarter" idx="12"/>
          </p:nvPr>
        </p:nvSpPr>
        <p:spPr/>
        <p:txBody>
          <a:bodyPr/>
          <a:lstStyle/>
          <a:p>
            <a:fld id="{091F89DD-3176-4B90-BAC6-3359EE504190}" type="slidenum">
              <a:rPr lang="en-US" smtClean="0"/>
              <a:t>‹#›</a:t>
            </a:fld>
            <a:endParaRPr lang="en-US"/>
          </a:p>
        </p:txBody>
      </p:sp>
    </p:spTree>
    <p:extLst>
      <p:ext uri="{BB962C8B-B14F-4D97-AF65-F5344CB8AC3E}">
        <p14:creationId xmlns:p14="http://schemas.microsoft.com/office/powerpoint/2010/main" val="959861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8F7DE-9E00-682A-4B1A-35AF553FD9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2E3985-E001-8D94-F6B5-8A60562B0FA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D03EB0-52D1-31A0-3820-9A206A7F34FC}"/>
              </a:ext>
            </a:extLst>
          </p:cNvPr>
          <p:cNvSpPr>
            <a:spLocks noGrp="1"/>
          </p:cNvSpPr>
          <p:nvPr>
            <p:ph type="dt" sz="half" idx="10"/>
          </p:nvPr>
        </p:nvSpPr>
        <p:spPr/>
        <p:txBody>
          <a:bodyPr/>
          <a:lstStyle/>
          <a:p>
            <a:fld id="{BAA6759A-2932-41A6-931C-59D6E0CDFCCC}" type="datetimeFigureOut">
              <a:rPr lang="en-US" smtClean="0"/>
              <a:t>5/4/2025</a:t>
            </a:fld>
            <a:endParaRPr lang="en-US"/>
          </a:p>
        </p:txBody>
      </p:sp>
      <p:sp>
        <p:nvSpPr>
          <p:cNvPr id="5" name="Footer Placeholder 4">
            <a:extLst>
              <a:ext uri="{FF2B5EF4-FFF2-40B4-BE49-F238E27FC236}">
                <a16:creationId xmlns:a16="http://schemas.microsoft.com/office/drawing/2014/main" id="{65C5ECB5-EB59-799E-ECA6-E86E815AA6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5594D9-03AA-C337-F35D-94F020CACEF2}"/>
              </a:ext>
            </a:extLst>
          </p:cNvPr>
          <p:cNvSpPr>
            <a:spLocks noGrp="1"/>
          </p:cNvSpPr>
          <p:nvPr>
            <p:ph type="sldNum" sz="quarter" idx="12"/>
          </p:nvPr>
        </p:nvSpPr>
        <p:spPr/>
        <p:txBody>
          <a:bodyPr/>
          <a:lstStyle/>
          <a:p>
            <a:fld id="{091F89DD-3176-4B90-BAC6-3359EE504190}" type="slidenum">
              <a:rPr lang="en-US" smtClean="0"/>
              <a:t>‹#›</a:t>
            </a:fld>
            <a:endParaRPr lang="en-US"/>
          </a:p>
        </p:txBody>
      </p:sp>
    </p:spTree>
    <p:extLst>
      <p:ext uri="{BB962C8B-B14F-4D97-AF65-F5344CB8AC3E}">
        <p14:creationId xmlns:p14="http://schemas.microsoft.com/office/powerpoint/2010/main" val="3725062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8E578-368F-476D-8CBA-77C6102539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166CA2-4042-FF94-0331-F80A67D8E0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3C067E5-165A-4748-E699-27A8FE4B9B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3B2064-0CCB-D4A1-18C6-1C475A0ACB26}"/>
              </a:ext>
            </a:extLst>
          </p:cNvPr>
          <p:cNvSpPr>
            <a:spLocks noGrp="1"/>
          </p:cNvSpPr>
          <p:nvPr>
            <p:ph type="dt" sz="half" idx="10"/>
          </p:nvPr>
        </p:nvSpPr>
        <p:spPr/>
        <p:txBody>
          <a:bodyPr/>
          <a:lstStyle/>
          <a:p>
            <a:fld id="{BAA6759A-2932-41A6-931C-59D6E0CDFCCC}" type="datetimeFigureOut">
              <a:rPr lang="en-US" smtClean="0"/>
              <a:t>5/4/2025</a:t>
            </a:fld>
            <a:endParaRPr lang="en-US"/>
          </a:p>
        </p:txBody>
      </p:sp>
      <p:sp>
        <p:nvSpPr>
          <p:cNvPr id="6" name="Footer Placeholder 5">
            <a:extLst>
              <a:ext uri="{FF2B5EF4-FFF2-40B4-BE49-F238E27FC236}">
                <a16:creationId xmlns:a16="http://schemas.microsoft.com/office/drawing/2014/main" id="{271543A1-8458-836B-255D-048A70ECA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8BB1C6-FF41-4F79-861B-F85BE10DB564}"/>
              </a:ext>
            </a:extLst>
          </p:cNvPr>
          <p:cNvSpPr>
            <a:spLocks noGrp="1"/>
          </p:cNvSpPr>
          <p:nvPr>
            <p:ph type="sldNum" sz="quarter" idx="12"/>
          </p:nvPr>
        </p:nvSpPr>
        <p:spPr/>
        <p:txBody>
          <a:bodyPr/>
          <a:lstStyle/>
          <a:p>
            <a:fld id="{091F89DD-3176-4B90-BAC6-3359EE504190}" type="slidenum">
              <a:rPr lang="en-US" smtClean="0"/>
              <a:t>‹#›</a:t>
            </a:fld>
            <a:endParaRPr lang="en-US"/>
          </a:p>
        </p:txBody>
      </p:sp>
    </p:spTree>
    <p:extLst>
      <p:ext uri="{BB962C8B-B14F-4D97-AF65-F5344CB8AC3E}">
        <p14:creationId xmlns:p14="http://schemas.microsoft.com/office/powerpoint/2010/main" val="338174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5F53F-2977-CD3B-8C8E-773219E9CD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6701B1F-F3B2-955C-2C99-911F317EB9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D4F1BC-9E46-AB57-E355-1DE5377F31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E02CDA-F0C7-BFD8-C606-6784EF43CC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27C128-5CA4-3C65-4E46-5C8A8317B0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4EB136-581E-345D-48E3-11E4217CCE70}"/>
              </a:ext>
            </a:extLst>
          </p:cNvPr>
          <p:cNvSpPr>
            <a:spLocks noGrp="1"/>
          </p:cNvSpPr>
          <p:nvPr>
            <p:ph type="dt" sz="half" idx="10"/>
          </p:nvPr>
        </p:nvSpPr>
        <p:spPr/>
        <p:txBody>
          <a:bodyPr/>
          <a:lstStyle/>
          <a:p>
            <a:fld id="{BAA6759A-2932-41A6-931C-59D6E0CDFCCC}" type="datetimeFigureOut">
              <a:rPr lang="en-US" smtClean="0"/>
              <a:t>5/4/2025</a:t>
            </a:fld>
            <a:endParaRPr lang="en-US"/>
          </a:p>
        </p:txBody>
      </p:sp>
      <p:sp>
        <p:nvSpPr>
          <p:cNvPr id="8" name="Footer Placeholder 7">
            <a:extLst>
              <a:ext uri="{FF2B5EF4-FFF2-40B4-BE49-F238E27FC236}">
                <a16:creationId xmlns:a16="http://schemas.microsoft.com/office/drawing/2014/main" id="{ACF89FCE-0D59-2671-5847-28F15280D6B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4E07D4-1AC9-FF4E-637B-4B7459F3C903}"/>
              </a:ext>
            </a:extLst>
          </p:cNvPr>
          <p:cNvSpPr>
            <a:spLocks noGrp="1"/>
          </p:cNvSpPr>
          <p:nvPr>
            <p:ph type="sldNum" sz="quarter" idx="12"/>
          </p:nvPr>
        </p:nvSpPr>
        <p:spPr/>
        <p:txBody>
          <a:bodyPr/>
          <a:lstStyle/>
          <a:p>
            <a:fld id="{091F89DD-3176-4B90-BAC6-3359EE504190}" type="slidenum">
              <a:rPr lang="en-US" smtClean="0"/>
              <a:t>‹#›</a:t>
            </a:fld>
            <a:endParaRPr lang="en-US"/>
          </a:p>
        </p:txBody>
      </p:sp>
    </p:spTree>
    <p:extLst>
      <p:ext uri="{BB962C8B-B14F-4D97-AF65-F5344CB8AC3E}">
        <p14:creationId xmlns:p14="http://schemas.microsoft.com/office/powerpoint/2010/main" val="3796029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C9F47-4F2A-DF0C-92B9-89099BCBEA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AA48930-213D-ED9A-2FE3-DCC92B72462B}"/>
              </a:ext>
            </a:extLst>
          </p:cNvPr>
          <p:cNvSpPr>
            <a:spLocks noGrp="1"/>
          </p:cNvSpPr>
          <p:nvPr>
            <p:ph type="dt" sz="half" idx="10"/>
          </p:nvPr>
        </p:nvSpPr>
        <p:spPr/>
        <p:txBody>
          <a:bodyPr/>
          <a:lstStyle/>
          <a:p>
            <a:fld id="{BAA6759A-2932-41A6-931C-59D6E0CDFCCC}" type="datetimeFigureOut">
              <a:rPr lang="en-US" smtClean="0"/>
              <a:t>5/4/2025</a:t>
            </a:fld>
            <a:endParaRPr lang="en-US"/>
          </a:p>
        </p:txBody>
      </p:sp>
      <p:sp>
        <p:nvSpPr>
          <p:cNvPr id="4" name="Footer Placeholder 3">
            <a:extLst>
              <a:ext uri="{FF2B5EF4-FFF2-40B4-BE49-F238E27FC236}">
                <a16:creationId xmlns:a16="http://schemas.microsoft.com/office/drawing/2014/main" id="{53705398-1CDE-7B4D-CEF6-5C4AE26225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E12E24A-F99C-28EA-479C-7C9815413EE2}"/>
              </a:ext>
            </a:extLst>
          </p:cNvPr>
          <p:cNvSpPr>
            <a:spLocks noGrp="1"/>
          </p:cNvSpPr>
          <p:nvPr>
            <p:ph type="sldNum" sz="quarter" idx="12"/>
          </p:nvPr>
        </p:nvSpPr>
        <p:spPr/>
        <p:txBody>
          <a:bodyPr/>
          <a:lstStyle/>
          <a:p>
            <a:fld id="{091F89DD-3176-4B90-BAC6-3359EE504190}" type="slidenum">
              <a:rPr lang="en-US" smtClean="0"/>
              <a:t>‹#›</a:t>
            </a:fld>
            <a:endParaRPr lang="en-US"/>
          </a:p>
        </p:txBody>
      </p:sp>
    </p:spTree>
    <p:extLst>
      <p:ext uri="{BB962C8B-B14F-4D97-AF65-F5344CB8AC3E}">
        <p14:creationId xmlns:p14="http://schemas.microsoft.com/office/powerpoint/2010/main" val="2349124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C528D6-72CD-B7C0-7C73-60EB32AE2F29}"/>
              </a:ext>
            </a:extLst>
          </p:cNvPr>
          <p:cNvSpPr>
            <a:spLocks noGrp="1"/>
          </p:cNvSpPr>
          <p:nvPr>
            <p:ph type="dt" sz="half" idx="10"/>
          </p:nvPr>
        </p:nvSpPr>
        <p:spPr/>
        <p:txBody>
          <a:bodyPr/>
          <a:lstStyle/>
          <a:p>
            <a:fld id="{BAA6759A-2932-41A6-931C-59D6E0CDFCCC}" type="datetimeFigureOut">
              <a:rPr lang="en-US" smtClean="0"/>
              <a:t>5/4/2025</a:t>
            </a:fld>
            <a:endParaRPr lang="en-US"/>
          </a:p>
        </p:txBody>
      </p:sp>
      <p:sp>
        <p:nvSpPr>
          <p:cNvPr id="3" name="Footer Placeholder 2">
            <a:extLst>
              <a:ext uri="{FF2B5EF4-FFF2-40B4-BE49-F238E27FC236}">
                <a16:creationId xmlns:a16="http://schemas.microsoft.com/office/drawing/2014/main" id="{E82E1BBC-020D-5D5D-DA52-940768B8FE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37144E-8BD3-57AA-641B-9D1629F42FA9}"/>
              </a:ext>
            </a:extLst>
          </p:cNvPr>
          <p:cNvSpPr>
            <a:spLocks noGrp="1"/>
          </p:cNvSpPr>
          <p:nvPr>
            <p:ph type="sldNum" sz="quarter" idx="12"/>
          </p:nvPr>
        </p:nvSpPr>
        <p:spPr/>
        <p:txBody>
          <a:bodyPr/>
          <a:lstStyle/>
          <a:p>
            <a:fld id="{091F89DD-3176-4B90-BAC6-3359EE504190}" type="slidenum">
              <a:rPr lang="en-US" smtClean="0"/>
              <a:t>‹#›</a:t>
            </a:fld>
            <a:endParaRPr lang="en-US"/>
          </a:p>
        </p:txBody>
      </p:sp>
    </p:spTree>
    <p:extLst>
      <p:ext uri="{BB962C8B-B14F-4D97-AF65-F5344CB8AC3E}">
        <p14:creationId xmlns:p14="http://schemas.microsoft.com/office/powerpoint/2010/main" val="2519107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C5A3A-AE5D-3462-B43F-F8FCF6136D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F947AC1-2FA7-4B5E-10D3-EF57C97811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A9220A-7148-37EE-B51F-5639F21CEA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AFFD07-A0BD-E5F1-4F4B-09F1C37E7E08}"/>
              </a:ext>
            </a:extLst>
          </p:cNvPr>
          <p:cNvSpPr>
            <a:spLocks noGrp="1"/>
          </p:cNvSpPr>
          <p:nvPr>
            <p:ph type="dt" sz="half" idx="10"/>
          </p:nvPr>
        </p:nvSpPr>
        <p:spPr/>
        <p:txBody>
          <a:bodyPr/>
          <a:lstStyle/>
          <a:p>
            <a:fld id="{BAA6759A-2932-41A6-931C-59D6E0CDFCCC}" type="datetimeFigureOut">
              <a:rPr lang="en-US" smtClean="0"/>
              <a:t>5/4/2025</a:t>
            </a:fld>
            <a:endParaRPr lang="en-US"/>
          </a:p>
        </p:txBody>
      </p:sp>
      <p:sp>
        <p:nvSpPr>
          <p:cNvPr id="6" name="Footer Placeholder 5">
            <a:extLst>
              <a:ext uri="{FF2B5EF4-FFF2-40B4-BE49-F238E27FC236}">
                <a16:creationId xmlns:a16="http://schemas.microsoft.com/office/drawing/2014/main" id="{2E4DACEC-5E3D-740B-4963-51D4F81A00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86B9BA-161A-10CB-3E0E-16F6BBB2B275}"/>
              </a:ext>
            </a:extLst>
          </p:cNvPr>
          <p:cNvSpPr>
            <a:spLocks noGrp="1"/>
          </p:cNvSpPr>
          <p:nvPr>
            <p:ph type="sldNum" sz="quarter" idx="12"/>
          </p:nvPr>
        </p:nvSpPr>
        <p:spPr/>
        <p:txBody>
          <a:bodyPr/>
          <a:lstStyle/>
          <a:p>
            <a:fld id="{091F89DD-3176-4B90-BAC6-3359EE504190}" type="slidenum">
              <a:rPr lang="en-US" smtClean="0"/>
              <a:t>‹#›</a:t>
            </a:fld>
            <a:endParaRPr lang="en-US"/>
          </a:p>
        </p:txBody>
      </p:sp>
    </p:spTree>
    <p:extLst>
      <p:ext uri="{BB962C8B-B14F-4D97-AF65-F5344CB8AC3E}">
        <p14:creationId xmlns:p14="http://schemas.microsoft.com/office/powerpoint/2010/main" val="4276384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8B6E3-C7B2-12ED-1CE2-A8EBFA3F2B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674128-0281-B9A4-9FA9-7CDD132D7A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A3E1D7-02B8-E480-F33F-3EED3D4941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9A98D6-C165-8C50-9FFE-91F2E499954B}"/>
              </a:ext>
            </a:extLst>
          </p:cNvPr>
          <p:cNvSpPr>
            <a:spLocks noGrp="1"/>
          </p:cNvSpPr>
          <p:nvPr>
            <p:ph type="dt" sz="half" idx="10"/>
          </p:nvPr>
        </p:nvSpPr>
        <p:spPr/>
        <p:txBody>
          <a:bodyPr/>
          <a:lstStyle/>
          <a:p>
            <a:fld id="{BAA6759A-2932-41A6-931C-59D6E0CDFCCC}" type="datetimeFigureOut">
              <a:rPr lang="en-US" smtClean="0"/>
              <a:t>5/4/2025</a:t>
            </a:fld>
            <a:endParaRPr lang="en-US"/>
          </a:p>
        </p:txBody>
      </p:sp>
      <p:sp>
        <p:nvSpPr>
          <p:cNvPr id="6" name="Footer Placeholder 5">
            <a:extLst>
              <a:ext uri="{FF2B5EF4-FFF2-40B4-BE49-F238E27FC236}">
                <a16:creationId xmlns:a16="http://schemas.microsoft.com/office/drawing/2014/main" id="{BA6B0300-D616-89AA-26C0-7997E8A4D7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4F2369-60D7-5139-82BC-5AAE284103F9}"/>
              </a:ext>
            </a:extLst>
          </p:cNvPr>
          <p:cNvSpPr>
            <a:spLocks noGrp="1"/>
          </p:cNvSpPr>
          <p:nvPr>
            <p:ph type="sldNum" sz="quarter" idx="12"/>
          </p:nvPr>
        </p:nvSpPr>
        <p:spPr/>
        <p:txBody>
          <a:bodyPr/>
          <a:lstStyle/>
          <a:p>
            <a:fld id="{091F89DD-3176-4B90-BAC6-3359EE504190}" type="slidenum">
              <a:rPr lang="en-US" smtClean="0"/>
              <a:t>‹#›</a:t>
            </a:fld>
            <a:endParaRPr lang="en-US"/>
          </a:p>
        </p:txBody>
      </p:sp>
    </p:spTree>
    <p:extLst>
      <p:ext uri="{BB962C8B-B14F-4D97-AF65-F5344CB8AC3E}">
        <p14:creationId xmlns:p14="http://schemas.microsoft.com/office/powerpoint/2010/main" val="1389351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E99EC-8EBC-C533-1F13-A8CA27E8E1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A27846-A787-712A-4EFC-760C307923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6F290D-F17A-0F74-70E5-C91D9F268FE6}"/>
              </a:ext>
            </a:extLst>
          </p:cNvPr>
          <p:cNvSpPr>
            <a:spLocks noGrp="1"/>
          </p:cNvSpPr>
          <p:nvPr>
            <p:ph type="dt" sz="half" idx="10"/>
          </p:nvPr>
        </p:nvSpPr>
        <p:spPr/>
        <p:txBody>
          <a:bodyPr/>
          <a:lstStyle/>
          <a:p>
            <a:fld id="{BAA6759A-2932-41A6-931C-59D6E0CDFCCC}" type="datetimeFigureOut">
              <a:rPr lang="en-US" smtClean="0"/>
              <a:t>5/4/2025</a:t>
            </a:fld>
            <a:endParaRPr lang="en-US"/>
          </a:p>
        </p:txBody>
      </p:sp>
      <p:sp>
        <p:nvSpPr>
          <p:cNvPr id="5" name="Footer Placeholder 4">
            <a:extLst>
              <a:ext uri="{FF2B5EF4-FFF2-40B4-BE49-F238E27FC236}">
                <a16:creationId xmlns:a16="http://schemas.microsoft.com/office/drawing/2014/main" id="{F8FAD0C1-A636-473B-9D9F-863438454F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D343A4-A44C-E73E-8E5C-6A7452928175}"/>
              </a:ext>
            </a:extLst>
          </p:cNvPr>
          <p:cNvSpPr>
            <a:spLocks noGrp="1"/>
          </p:cNvSpPr>
          <p:nvPr>
            <p:ph type="sldNum" sz="quarter" idx="12"/>
          </p:nvPr>
        </p:nvSpPr>
        <p:spPr/>
        <p:txBody>
          <a:bodyPr/>
          <a:lstStyle/>
          <a:p>
            <a:fld id="{091F89DD-3176-4B90-BAC6-3359EE504190}" type="slidenum">
              <a:rPr lang="en-US" smtClean="0"/>
              <a:t>‹#›</a:t>
            </a:fld>
            <a:endParaRPr lang="en-US"/>
          </a:p>
        </p:txBody>
      </p:sp>
    </p:spTree>
    <p:extLst>
      <p:ext uri="{BB962C8B-B14F-4D97-AF65-F5344CB8AC3E}">
        <p14:creationId xmlns:p14="http://schemas.microsoft.com/office/powerpoint/2010/main" val="52001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2D0AB0-8A0C-A947-3F95-F5869777706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B5B492-6B28-9C8B-DF4A-C22F792645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CE8F28-2A0A-CD38-3960-811B240D1BBA}"/>
              </a:ext>
            </a:extLst>
          </p:cNvPr>
          <p:cNvSpPr>
            <a:spLocks noGrp="1"/>
          </p:cNvSpPr>
          <p:nvPr>
            <p:ph type="dt" sz="half" idx="10"/>
          </p:nvPr>
        </p:nvSpPr>
        <p:spPr/>
        <p:txBody>
          <a:bodyPr/>
          <a:lstStyle/>
          <a:p>
            <a:fld id="{BAA6759A-2932-41A6-931C-59D6E0CDFCCC}" type="datetimeFigureOut">
              <a:rPr lang="en-US" smtClean="0"/>
              <a:t>5/4/2025</a:t>
            </a:fld>
            <a:endParaRPr lang="en-US"/>
          </a:p>
        </p:txBody>
      </p:sp>
      <p:sp>
        <p:nvSpPr>
          <p:cNvPr id="5" name="Footer Placeholder 4">
            <a:extLst>
              <a:ext uri="{FF2B5EF4-FFF2-40B4-BE49-F238E27FC236}">
                <a16:creationId xmlns:a16="http://schemas.microsoft.com/office/drawing/2014/main" id="{805A4F58-0835-2419-0590-18A6B1C978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2D1B93-F436-D7E2-43FE-160AAF462079}"/>
              </a:ext>
            </a:extLst>
          </p:cNvPr>
          <p:cNvSpPr>
            <a:spLocks noGrp="1"/>
          </p:cNvSpPr>
          <p:nvPr>
            <p:ph type="sldNum" sz="quarter" idx="12"/>
          </p:nvPr>
        </p:nvSpPr>
        <p:spPr/>
        <p:txBody>
          <a:bodyPr/>
          <a:lstStyle/>
          <a:p>
            <a:fld id="{091F89DD-3176-4B90-BAC6-3359EE504190}" type="slidenum">
              <a:rPr lang="en-US" smtClean="0"/>
              <a:t>‹#›</a:t>
            </a:fld>
            <a:endParaRPr lang="en-US"/>
          </a:p>
        </p:txBody>
      </p:sp>
    </p:spTree>
    <p:extLst>
      <p:ext uri="{BB962C8B-B14F-4D97-AF65-F5344CB8AC3E}">
        <p14:creationId xmlns:p14="http://schemas.microsoft.com/office/powerpoint/2010/main" val="2464089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308D3A-932D-5479-F3A7-92C0AA519B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817F3A-AED9-4DFE-5019-BBBFB81A9A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04E799-78AE-40FA-ADB5-751FCB02AD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A6759A-2932-41A6-931C-59D6E0CDFCCC}" type="datetimeFigureOut">
              <a:rPr lang="en-US" smtClean="0"/>
              <a:t>5/4/2025</a:t>
            </a:fld>
            <a:endParaRPr lang="en-US"/>
          </a:p>
        </p:txBody>
      </p:sp>
      <p:sp>
        <p:nvSpPr>
          <p:cNvPr id="5" name="Footer Placeholder 4">
            <a:extLst>
              <a:ext uri="{FF2B5EF4-FFF2-40B4-BE49-F238E27FC236}">
                <a16:creationId xmlns:a16="http://schemas.microsoft.com/office/drawing/2014/main" id="{6D58CA61-892D-3959-91EB-3C08DEAF39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CD43779-AFB3-DFFA-57B6-187EC04D57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91F89DD-3176-4B90-BAC6-3359EE504190}" type="slidenum">
              <a:rPr lang="en-US" smtClean="0"/>
              <a:t>‹#›</a:t>
            </a:fld>
            <a:endParaRPr lang="en-US"/>
          </a:p>
        </p:txBody>
      </p:sp>
    </p:spTree>
    <p:extLst>
      <p:ext uri="{BB962C8B-B14F-4D97-AF65-F5344CB8AC3E}">
        <p14:creationId xmlns:p14="http://schemas.microsoft.com/office/powerpoint/2010/main" val="20720479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3A698-69B1-B9B4-BB94-F8667AC339D9}"/>
              </a:ext>
            </a:extLst>
          </p:cNvPr>
          <p:cNvSpPr>
            <a:spLocks noGrp="1"/>
          </p:cNvSpPr>
          <p:nvPr>
            <p:ph type="ctrTitle"/>
          </p:nvPr>
        </p:nvSpPr>
        <p:spPr/>
        <p:txBody>
          <a:bodyPr/>
          <a:lstStyle/>
          <a:p>
            <a:r>
              <a:rPr lang="en-US" dirty="0"/>
              <a:t>PROJECT REPORT</a:t>
            </a:r>
            <a:br>
              <a:rPr lang="en-US" dirty="0"/>
            </a:br>
            <a:r>
              <a:rPr lang="en-US" dirty="0"/>
              <a:t>CMPS 4700</a:t>
            </a:r>
          </a:p>
        </p:txBody>
      </p:sp>
      <p:sp>
        <p:nvSpPr>
          <p:cNvPr id="3" name="Subtitle 2">
            <a:extLst>
              <a:ext uri="{FF2B5EF4-FFF2-40B4-BE49-F238E27FC236}">
                <a16:creationId xmlns:a16="http://schemas.microsoft.com/office/drawing/2014/main" id="{682F44A4-AA40-BC68-AD2E-4559CF6AB80E}"/>
              </a:ext>
            </a:extLst>
          </p:cNvPr>
          <p:cNvSpPr>
            <a:spLocks noGrp="1"/>
          </p:cNvSpPr>
          <p:nvPr>
            <p:ph type="subTitle" idx="1"/>
          </p:nvPr>
        </p:nvSpPr>
        <p:spPr/>
        <p:txBody>
          <a:bodyPr/>
          <a:lstStyle/>
          <a:p>
            <a:r>
              <a:rPr lang="en-US" dirty="0" err="1"/>
              <a:t>ChatBLT</a:t>
            </a:r>
            <a:endParaRPr lang="en-US" dirty="0"/>
          </a:p>
          <a:p>
            <a:r>
              <a:rPr lang="en-US" dirty="0"/>
              <a:t>Rhett Hill, Zachary Gros</a:t>
            </a:r>
          </a:p>
        </p:txBody>
      </p:sp>
    </p:spTree>
    <p:extLst>
      <p:ext uri="{BB962C8B-B14F-4D97-AF65-F5344CB8AC3E}">
        <p14:creationId xmlns:p14="http://schemas.microsoft.com/office/powerpoint/2010/main" val="3088607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CBB4B-5226-4329-CB1A-070275379B0D}"/>
              </a:ext>
            </a:extLst>
          </p:cNvPr>
          <p:cNvSpPr>
            <a:spLocks noGrp="1"/>
          </p:cNvSpPr>
          <p:nvPr>
            <p:ph type="title"/>
          </p:nvPr>
        </p:nvSpPr>
        <p:spPr/>
        <p:txBody>
          <a:bodyPr/>
          <a:lstStyle/>
          <a:p>
            <a:r>
              <a:rPr lang="en-US" dirty="0"/>
              <a:t>DESCRIPTION</a:t>
            </a:r>
          </a:p>
        </p:txBody>
      </p:sp>
      <p:sp>
        <p:nvSpPr>
          <p:cNvPr id="3" name="Content Placeholder 2">
            <a:extLst>
              <a:ext uri="{FF2B5EF4-FFF2-40B4-BE49-F238E27FC236}">
                <a16:creationId xmlns:a16="http://schemas.microsoft.com/office/drawing/2014/main" id="{D1DB3930-D1D9-CD0D-6B4D-81828266BBAE}"/>
              </a:ext>
            </a:extLst>
          </p:cNvPr>
          <p:cNvSpPr>
            <a:spLocks noGrp="1"/>
          </p:cNvSpPr>
          <p:nvPr>
            <p:ph idx="1"/>
          </p:nvPr>
        </p:nvSpPr>
        <p:spPr/>
        <p:txBody>
          <a:bodyPr/>
          <a:lstStyle/>
          <a:p>
            <a:r>
              <a:rPr lang="en-US" dirty="0"/>
              <a:t>Goal:  Identify objects’ class labels by means of Machine Learning algorithms KNN, Decision Trees, ANN, and SVM.</a:t>
            </a:r>
          </a:p>
          <a:p>
            <a:r>
              <a:rPr lang="en-US" dirty="0"/>
              <a:t>Tasks:</a:t>
            </a:r>
          </a:p>
          <a:p>
            <a:pPr lvl="1"/>
            <a:r>
              <a:rPr lang="en-US" dirty="0"/>
              <a:t>Visualize data</a:t>
            </a:r>
          </a:p>
          <a:p>
            <a:pPr lvl="1"/>
            <a:r>
              <a:rPr lang="en-US" dirty="0"/>
              <a:t>Preprocess Data</a:t>
            </a:r>
          </a:p>
          <a:p>
            <a:pPr lvl="1"/>
            <a:r>
              <a:rPr lang="en-US" dirty="0"/>
              <a:t>Design Representation</a:t>
            </a:r>
          </a:p>
          <a:p>
            <a:pPr lvl="2"/>
            <a:r>
              <a:rPr lang="en-US" dirty="0"/>
              <a:t>Extract Features</a:t>
            </a:r>
          </a:p>
          <a:p>
            <a:pPr lvl="2"/>
            <a:r>
              <a:rPr lang="en-US" dirty="0"/>
              <a:t>Explore Feature Distributions</a:t>
            </a:r>
          </a:p>
          <a:p>
            <a:pPr lvl="1"/>
            <a:r>
              <a:rPr lang="en-US" dirty="0"/>
              <a:t>Design and create the model</a:t>
            </a:r>
          </a:p>
          <a:p>
            <a:pPr lvl="1"/>
            <a:r>
              <a:rPr lang="en-US" dirty="0"/>
              <a:t>Conduct Model Assessment</a:t>
            </a:r>
          </a:p>
        </p:txBody>
      </p:sp>
    </p:spTree>
    <p:extLst>
      <p:ext uri="{BB962C8B-B14F-4D97-AF65-F5344CB8AC3E}">
        <p14:creationId xmlns:p14="http://schemas.microsoft.com/office/powerpoint/2010/main" val="2497515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0D516-379B-E8EE-1CBC-432F2BAD7054}"/>
              </a:ext>
            </a:extLst>
          </p:cNvPr>
          <p:cNvSpPr>
            <a:spLocks noGrp="1"/>
          </p:cNvSpPr>
          <p:nvPr>
            <p:ph type="title"/>
          </p:nvPr>
        </p:nvSpPr>
        <p:spPr/>
        <p:txBody>
          <a:bodyPr/>
          <a:lstStyle/>
          <a:p>
            <a:r>
              <a:rPr lang="en-US" dirty="0"/>
              <a:t>Project Description</a:t>
            </a:r>
          </a:p>
        </p:txBody>
      </p:sp>
      <p:sp>
        <p:nvSpPr>
          <p:cNvPr id="3" name="Content Placeholder 2">
            <a:extLst>
              <a:ext uri="{FF2B5EF4-FFF2-40B4-BE49-F238E27FC236}">
                <a16:creationId xmlns:a16="http://schemas.microsoft.com/office/drawing/2014/main" id="{81875BBE-5845-7668-B6C7-349829B1E7CE}"/>
              </a:ext>
            </a:extLst>
          </p:cNvPr>
          <p:cNvSpPr>
            <a:spLocks noGrp="1"/>
          </p:cNvSpPr>
          <p:nvPr>
            <p:ph idx="1"/>
          </p:nvPr>
        </p:nvSpPr>
        <p:spPr/>
        <p:txBody>
          <a:bodyPr/>
          <a:lstStyle/>
          <a:p>
            <a:r>
              <a:rPr lang="en-US" dirty="0"/>
              <a:t>Problem:  Too many spam emails flood users’ inboxes.</a:t>
            </a:r>
          </a:p>
          <a:p>
            <a:r>
              <a:rPr lang="en-US" dirty="0"/>
              <a:t>Solution:  Our goal is to utilize various machine learning algorithms to create a “spam filter” to filter out legitimate emails from spam emails.</a:t>
            </a:r>
          </a:p>
        </p:txBody>
      </p:sp>
    </p:spTree>
    <p:extLst>
      <p:ext uri="{BB962C8B-B14F-4D97-AF65-F5344CB8AC3E}">
        <p14:creationId xmlns:p14="http://schemas.microsoft.com/office/powerpoint/2010/main" val="1671530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D9E3A-8166-6BAE-996E-5D5000504C1E}"/>
              </a:ext>
            </a:extLst>
          </p:cNvPr>
          <p:cNvSpPr>
            <a:spLocks noGrp="1"/>
          </p:cNvSpPr>
          <p:nvPr>
            <p:ph type="title"/>
          </p:nvPr>
        </p:nvSpPr>
        <p:spPr/>
        <p:txBody>
          <a:bodyPr/>
          <a:lstStyle/>
          <a:p>
            <a:r>
              <a:rPr lang="en-US" dirty="0"/>
              <a:t>Description of the Data</a:t>
            </a:r>
          </a:p>
        </p:txBody>
      </p:sp>
      <p:sp>
        <p:nvSpPr>
          <p:cNvPr id="3" name="Content Placeholder 2">
            <a:extLst>
              <a:ext uri="{FF2B5EF4-FFF2-40B4-BE49-F238E27FC236}">
                <a16:creationId xmlns:a16="http://schemas.microsoft.com/office/drawing/2014/main" id="{D261A184-A460-45F5-35D7-6BD179B8BD36}"/>
              </a:ext>
            </a:extLst>
          </p:cNvPr>
          <p:cNvSpPr>
            <a:spLocks noGrp="1"/>
          </p:cNvSpPr>
          <p:nvPr>
            <p:ph idx="1"/>
          </p:nvPr>
        </p:nvSpPr>
        <p:spPr>
          <a:xfrm>
            <a:off x="838200" y="1825625"/>
            <a:ext cx="5354495" cy="4351338"/>
          </a:xfrm>
        </p:spPr>
        <p:txBody>
          <a:bodyPr/>
          <a:lstStyle/>
          <a:p>
            <a:r>
              <a:rPr lang="en-US" dirty="0"/>
              <a:t>All data is collected from this Kaggle repository:  https://www.kaggle.com/datasets/wanderfj/enron-spam/data</a:t>
            </a:r>
          </a:p>
          <a:p>
            <a:r>
              <a:rPr lang="en-US" dirty="0"/>
              <a:t>The data is comprised of strings containing the email content with the class label of either ‘ham’ or ‘spam’ with ‘ham’ being the negative class and ‘spam’ being the positive class.</a:t>
            </a:r>
          </a:p>
        </p:txBody>
      </p:sp>
      <p:pic>
        <p:nvPicPr>
          <p:cNvPr id="5" name="Picture 4">
            <a:extLst>
              <a:ext uri="{FF2B5EF4-FFF2-40B4-BE49-F238E27FC236}">
                <a16:creationId xmlns:a16="http://schemas.microsoft.com/office/drawing/2014/main" id="{2899D6AA-7916-183F-AE17-44AB6C506FDA}"/>
              </a:ext>
            </a:extLst>
          </p:cNvPr>
          <p:cNvPicPr>
            <a:picLocks noChangeAspect="1"/>
          </p:cNvPicPr>
          <p:nvPr/>
        </p:nvPicPr>
        <p:blipFill>
          <a:blip r:embed="rId2"/>
          <a:stretch>
            <a:fillRect/>
          </a:stretch>
        </p:blipFill>
        <p:spPr>
          <a:xfrm>
            <a:off x="6277278" y="2119804"/>
            <a:ext cx="5594102" cy="2618391"/>
          </a:xfrm>
          <a:prstGeom prst="rect">
            <a:avLst/>
          </a:prstGeom>
        </p:spPr>
      </p:pic>
    </p:spTree>
    <p:extLst>
      <p:ext uri="{BB962C8B-B14F-4D97-AF65-F5344CB8AC3E}">
        <p14:creationId xmlns:p14="http://schemas.microsoft.com/office/powerpoint/2010/main" val="2862579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52A99-1F27-92F3-7AB7-826A2A69143C}"/>
              </a:ext>
            </a:extLst>
          </p:cNvPr>
          <p:cNvSpPr>
            <a:spLocks noGrp="1"/>
          </p:cNvSpPr>
          <p:nvPr>
            <p:ph type="title"/>
          </p:nvPr>
        </p:nvSpPr>
        <p:spPr/>
        <p:txBody>
          <a:bodyPr/>
          <a:lstStyle/>
          <a:p>
            <a:r>
              <a:rPr lang="en-US" dirty="0"/>
              <a:t>Raw Data Visualization</a:t>
            </a:r>
          </a:p>
        </p:txBody>
      </p:sp>
      <p:pic>
        <p:nvPicPr>
          <p:cNvPr id="9" name="Content Placeholder 8" descr="A graph with blue and orange dots&#10;&#10;AI-generated content may be incorrect.">
            <a:extLst>
              <a:ext uri="{FF2B5EF4-FFF2-40B4-BE49-F238E27FC236}">
                <a16:creationId xmlns:a16="http://schemas.microsoft.com/office/drawing/2014/main" id="{D1E88B26-0458-E4AF-BE5F-F1B8DEAE4E4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797566" y="1485900"/>
            <a:ext cx="5181600" cy="3886199"/>
          </a:xfrm>
        </p:spPr>
      </p:pic>
      <p:sp>
        <p:nvSpPr>
          <p:cNvPr id="7" name="Content Placeholder 6">
            <a:extLst>
              <a:ext uri="{FF2B5EF4-FFF2-40B4-BE49-F238E27FC236}">
                <a16:creationId xmlns:a16="http://schemas.microsoft.com/office/drawing/2014/main" id="{FC8F6FA4-E577-C714-B064-A6158B7F0F22}"/>
              </a:ext>
            </a:extLst>
          </p:cNvPr>
          <p:cNvSpPr>
            <a:spLocks noGrp="1"/>
          </p:cNvSpPr>
          <p:nvPr>
            <p:ph sz="half" idx="2"/>
          </p:nvPr>
        </p:nvSpPr>
        <p:spPr>
          <a:xfrm>
            <a:off x="838200" y="1690688"/>
            <a:ext cx="5181600" cy="4351338"/>
          </a:xfrm>
        </p:spPr>
        <p:txBody>
          <a:bodyPr>
            <a:normAutofit fontScale="92500" lnSpcReduction="10000"/>
          </a:bodyPr>
          <a:lstStyle/>
          <a:p>
            <a:r>
              <a:rPr lang="en-US" dirty="0"/>
              <a:t>Given that the raw data is in string format, the best way method we found to visualize it is to plot the comparison of the string length to the total word count for each data point in the dataset.  This plot can be seen to the right.  Looking at the plot, we can see that the string length and word count have a linear relationship with word count increasing at a similar rate to string length.</a:t>
            </a:r>
          </a:p>
        </p:txBody>
      </p:sp>
    </p:spTree>
    <p:extLst>
      <p:ext uri="{BB962C8B-B14F-4D97-AF65-F5344CB8AC3E}">
        <p14:creationId xmlns:p14="http://schemas.microsoft.com/office/powerpoint/2010/main" val="4148109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7C81E-8756-A77F-884A-DE852151C3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D72CF4-E80A-45F2-7117-F129906D7E7B}"/>
              </a:ext>
            </a:extLst>
          </p:cNvPr>
          <p:cNvSpPr>
            <a:spLocks noGrp="1"/>
          </p:cNvSpPr>
          <p:nvPr>
            <p:ph type="title"/>
          </p:nvPr>
        </p:nvSpPr>
        <p:spPr/>
        <p:txBody>
          <a:bodyPr/>
          <a:lstStyle/>
          <a:p>
            <a:r>
              <a:rPr lang="en-US" dirty="0"/>
              <a:t>Preprocessing</a:t>
            </a:r>
          </a:p>
        </p:txBody>
      </p:sp>
      <p:sp>
        <p:nvSpPr>
          <p:cNvPr id="3" name="Content Placeholder 2">
            <a:extLst>
              <a:ext uri="{FF2B5EF4-FFF2-40B4-BE49-F238E27FC236}">
                <a16:creationId xmlns:a16="http://schemas.microsoft.com/office/drawing/2014/main" id="{8D8513E0-0E8B-85FF-059B-A07CA8FE0C5F}"/>
              </a:ext>
            </a:extLst>
          </p:cNvPr>
          <p:cNvSpPr>
            <a:spLocks noGrp="1"/>
          </p:cNvSpPr>
          <p:nvPr>
            <p:ph idx="1"/>
          </p:nvPr>
        </p:nvSpPr>
        <p:spPr>
          <a:xfrm>
            <a:off x="838200" y="1526103"/>
            <a:ext cx="5257800" cy="5082802"/>
          </a:xfrm>
        </p:spPr>
        <p:txBody>
          <a:bodyPr>
            <a:normAutofit fontScale="92500" lnSpcReduction="10000"/>
          </a:bodyPr>
          <a:lstStyle/>
          <a:p>
            <a:r>
              <a:rPr lang="en-US" dirty="0"/>
              <a:t>To better work with the dataset, we decided to remove any unnecessary characters in the strings including numbers, </a:t>
            </a:r>
            <a:r>
              <a:rPr lang="en-US" dirty="0" err="1"/>
              <a:t>stopwords</a:t>
            </a:r>
            <a:r>
              <a:rPr lang="en-US" dirty="0"/>
              <a:t>, and special characters.  The result of our preprocessing was that the maximum word count reduced by around half of the original value, and the maximum string length was cut to around two-thirds of the original value.  The preprocessed dataset and a visualization of the dataset can be seen to the right.</a:t>
            </a:r>
          </a:p>
        </p:txBody>
      </p:sp>
      <p:pic>
        <p:nvPicPr>
          <p:cNvPr id="5" name="Picture 4" descr="A graph with blue and orange dots&#10;&#10;AI-generated content may be incorrect.">
            <a:extLst>
              <a:ext uri="{FF2B5EF4-FFF2-40B4-BE49-F238E27FC236}">
                <a16:creationId xmlns:a16="http://schemas.microsoft.com/office/drawing/2014/main" id="{8C3C60B6-1803-CA32-3168-37D20B75CB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8723" y="2736100"/>
            <a:ext cx="5365538" cy="4024154"/>
          </a:xfrm>
          <a:prstGeom prst="rect">
            <a:avLst/>
          </a:prstGeom>
        </p:spPr>
      </p:pic>
      <p:pic>
        <p:nvPicPr>
          <p:cNvPr id="7" name="Picture 6">
            <a:extLst>
              <a:ext uri="{FF2B5EF4-FFF2-40B4-BE49-F238E27FC236}">
                <a16:creationId xmlns:a16="http://schemas.microsoft.com/office/drawing/2014/main" id="{4748BDF0-9F15-A470-1147-31751C0C3521}"/>
              </a:ext>
            </a:extLst>
          </p:cNvPr>
          <p:cNvPicPr>
            <a:picLocks noChangeAspect="1"/>
          </p:cNvPicPr>
          <p:nvPr/>
        </p:nvPicPr>
        <p:blipFill>
          <a:blip r:embed="rId3"/>
          <a:stretch>
            <a:fillRect/>
          </a:stretch>
        </p:blipFill>
        <p:spPr>
          <a:xfrm>
            <a:off x="6839208" y="443493"/>
            <a:ext cx="5144567" cy="2230339"/>
          </a:xfrm>
          <a:prstGeom prst="rect">
            <a:avLst/>
          </a:prstGeom>
        </p:spPr>
      </p:pic>
    </p:spTree>
    <p:extLst>
      <p:ext uri="{BB962C8B-B14F-4D97-AF65-F5344CB8AC3E}">
        <p14:creationId xmlns:p14="http://schemas.microsoft.com/office/powerpoint/2010/main" val="2084364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50B3C-48F0-6682-75F4-24D185153D39}"/>
              </a:ext>
            </a:extLst>
          </p:cNvPr>
          <p:cNvSpPr>
            <a:spLocks noGrp="1"/>
          </p:cNvSpPr>
          <p:nvPr>
            <p:ph type="title"/>
          </p:nvPr>
        </p:nvSpPr>
        <p:spPr/>
        <p:txBody>
          <a:bodyPr/>
          <a:lstStyle/>
          <a:p>
            <a:r>
              <a:rPr lang="en-US" dirty="0"/>
              <a:t>Feature Extraction</a:t>
            </a:r>
          </a:p>
        </p:txBody>
      </p:sp>
      <p:sp>
        <p:nvSpPr>
          <p:cNvPr id="3" name="Content Placeholder 2">
            <a:extLst>
              <a:ext uri="{FF2B5EF4-FFF2-40B4-BE49-F238E27FC236}">
                <a16:creationId xmlns:a16="http://schemas.microsoft.com/office/drawing/2014/main" id="{38B90B53-500E-CA9A-258F-304D2534E711}"/>
              </a:ext>
            </a:extLst>
          </p:cNvPr>
          <p:cNvSpPr>
            <a:spLocks noGrp="1"/>
          </p:cNvSpPr>
          <p:nvPr>
            <p:ph idx="1"/>
          </p:nvPr>
        </p:nvSpPr>
        <p:spPr/>
        <p:txBody>
          <a:bodyPr/>
          <a:lstStyle/>
          <a:p>
            <a:r>
              <a:rPr lang="en-US" dirty="0"/>
              <a:t>For the extraction of features for this specific dataset, we chose to use scikit-</a:t>
            </a:r>
            <a:r>
              <a:rPr lang="en-US" dirty="0" err="1"/>
              <a:t>learn’s</a:t>
            </a:r>
            <a:r>
              <a:rPr lang="en-US" dirty="0"/>
              <a:t> </a:t>
            </a:r>
            <a:r>
              <a:rPr lang="en-US" dirty="0" err="1"/>
              <a:t>TfidfVectorizer</a:t>
            </a:r>
            <a:r>
              <a:rPr lang="en-US" dirty="0"/>
              <a:t> (Term Frequency-Inverse Document Frequency) function to calculate the frequency of every word each datapoint compared to the frequency of the word in the entire dataset with each word being given a TF-IDF score.  We chose to use the 1,000 most important words in the dataset to remove needless complexity and to make the data easier to work with.</a:t>
            </a:r>
          </a:p>
        </p:txBody>
      </p:sp>
    </p:spTree>
    <p:extLst>
      <p:ext uri="{BB962C8B-B14F-4D97-AF65-F5344CB8AC3E}">
        <p14:creationId xmlns:p14="http://schemas.microsoft.com/office/powerpoint/2010/main" val="3080400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804B3-D438-1403-64A5-FFD97D413C22}"/>
              </a:ext>
            </a:extLst>
          </p:cNvPr>
          <p:cNvSpPr>
            <a:spLocks noGrp="1"/>
          </p:cNvSpPr>
          <p:nvPr>
            <p:ph type="title"/>
          </p:nvPr>
        </p:nvSpPr>
        <p:spPr/>
        <p:txBody>
          <a:bodyPr/>
          <a:lstStyle/>
          <a:p>
            <a:r>
              <a:rPr lang="en-US" dirty="0"/>
              <a:t>Feature Extraction (cont.)</a:t>
            </a:r>
          </a:p>
        </p:txBody>
      </p:sp>
      <p:sp>
        <p:nvSpPr>
          <p:cNvPr id="3" name="Content Placeholder 2">
            <a:extLst>
              <a:ext uri="{FF2B5EF4-FFF2-40B4-BE49-F238E27FC236}">
                <a16:creationId xmlns:a16="http://schemas.microsoft.com/office/drawing/2014/main" id="{A6ADC57B-4C55-F52A-E6E9-1D607A24775A}"/>
              </a:ext>
            </a:extLst>
          </p:cNvPr>
          <p:cNvSpPr>
            <a:spLocks noGrp="1"/>
          </p:cNvSpPr>
          <p:nvPr>
            <p:ph idx="1"/>
          </p:nvPr>
        </p:nvSpPr>
        <p:spPr>
          <a:xfrm>
            <a:off x="838200" y="1825625"/>
            <a:ext cx="5257800" cy="4351338"/>
          </a:xfrm>
        </p:spPr>
        <p:txBody>
          <a:bodyPr/>
          <a:lstStyle/>
          <a:p>
            <a:r>
              <a:rPr lang="en-US" dirty="0"/>
              <a:t>A snapshot of the dataset can be seen to the right.  As seen in the table, the attributes of the dataset are floats containing the TF-IDF scores of each word in each datapoint.</a:t>
            </a:r>
          </a:p>
        </p:txBody>
      </p:sp>
      <p:pic>
        <p:nvPicPr>
          <p:cNvPr id="5" name="Picture 4">
            <a:extLst>
              <a:ext uri="{FF2B5EF4-FFF2-40B4-BE49-F238E27FC236}">
                <a16:creationId xmlns:a16="http://schemas.microsoft.com/office/drawing/2014/main" id="{E0A73ACD-0C37-6784-3B70-31D8F5BBB133}"/>
              </a:ext>
            </a:extLst>
          </p:cNvPr>
          <p:cNvPicPr>
            <a:picLocks noChangeAspect="1"/>
          </p:cNvPicPr>
          <p:nvPr/>
        </p:nvPicPr>
        <p:blipFill>
          <a:blip r:embed="rId2"/>
          <a:srcRect r="45562"/>
          <a:stretch/>
        </p:blipFill>
        <p:spPr>
          <a:xfrm>
            <a:off x="6910552" y="1801977"/>
            <a:ext cx="4666593" cy="3852929"/>
          </a:xfrm>
          <a:prstGeom prst="rect">
            <a:avLst/>
          </a:prstGeom>
        </p:spPr>
      </p:pic>
    </p:spTree>
    <p:extLst>
      <p:ext uri="{BB962C8B-B14F-4D97-AF65-F5344CB8AC3E}">
        <p14:creationId xmlns:p14="http://schemas.microsoft.com/office/powerpoint/2010/main" val="3275977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B4FB2-E9AF-61A8-D29A-E36208618D78}"/>
              </a:ext>
            </a:extLst>
          </p:cNvPr>
          <p:cNvSpPr>
            <a:spLocks noGrp="1"/>
          </p:cNvSpPr>
          <p:nvPr>
            <p:ph type="title"/>
          </p:nvPr>
        </p:nvSpPr>
        <p:spPr/>
        <p:txBody>
          <a:bodyPr/>
          <a:lstStyle/>
          <a:p>
            <a:r>
              <a:rPr lang="en-US" dirty="0"/>
              <a:t>Feature Extraction (cont.)</a:t>
            </a:r>
          </a:p>
        </p:txBody>
      </p:sp>
      <p:sp>
        <p:nvSpPr>
          <p:cNvPr id="3" name="Content Placeholder 2">
            <a:extLst>
              <a:ext uri="{FF2B5EF4-FFF2-40B4-BE49-F238E27FC236}">
                <a16:creationId xmlns:a16="http://schemas.microsoft.com/office/drawing/2014/main" id="{95E01F38-868A-FEC5-0F02-C08F00468F7E}"/>
              </a:ext>
            </a:extLst>
          </p:cNvPr>
          <p:cNvSpPr>
            <a:spLocks noGrp="1"/>
          </p:cNvSpPr>
          <p:nvPr>
            <p:ph idx="1"/>
          </p:nvPr>
        </p:nvSpPr>
        <p:spPr>
          <a:xfrm>
            <a:off x="454047" y="1393672"/>
            <a:ext cx="5971978" cy="4956678"/>
          </a:xfrm>
        </p:spPr>
        <p:txBody>
          <a:bodyPr>
            <a:normAutofit/>
          </a:bodyPr>
          <a:lstStyle/>
          <a:p>
            <a:r>
              <a:rPr lang="en-US" dirty="0"/>
              <a:t>Since our dataset contains a large number of attributes, we used PCA to visualize the data using 2 principal components.  The plot can be seen to the right.  By looking at the plot, we can very clearly see that while the legitimate email are very spread out, the spam emails are condensed into a small area.  This gives us great confidence that machine learning will be very effective in detecting spam emails.</a:t>
            </a:r>
          </a:p>
        </p:txBody>
      </p:sp>
      <p:pic>
        <p:nvPicPr>
          <p:cNvPr id="5" name="Picture 4" descr="A diagram of a graph&#10;&#10;AI-generated content may be incorrect.">
            <a:extLst>
              <a:ext uri="{FF2B5EF4-FFF2-40B4-BE49-F238E27FC236}">
                <a16:creationId xmlns:a16="http://schemas.microsoft.com/office/drawing/2014/main" id="{CE38944A-6AF4-AF45-707D-9515973D71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1181" y="1690688"/>
            <a:ext cx="5700819" cy="4275614"/>
          </a:xfrm>
          <a:prstGeom prst="rect">
            <a:avLst/>
          </a:prstGeom>
        </p:spPr>
      </p:pic>
    </p:spTree>
    <p:extLst>
      <p:ext uri="{BB962C8B-B14F-4D97-AF65-F5344CB8AC3E}">
        <p14:creationId xmlns:p14="http://schemas.microsoft.com/office/powerpoint/2010/main" val="544126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DB284-B739-76C6-4F35-F1810B59098D}"/>
              </a:ext>
            </a:extLst>
          </p:cNvPr>
          <p:cNvSpPr>
            <a:spLocks noGrp="1"/>
          </p:cNvSpPr>
          <p:nvPr>
            <p:ph type="title"/>
          </p:nvPr>
        </p:nvSpPr>
        <p:spPr/>
        <p:txBody>
          <a:bodyPr/>
          <a:lstStyle/>
          <a:p>
            <a:r>
              <a:rPr lang="en-US" dirty="0"/>
              <a:t>Training/Validation/Test Split</a:t>
            </a:r>
          </a:p>
        </p:txBody>
      </p:sp>
      <p:sp>
        <p:nvSpPr>
          <p:cNvPr id="3" name="Content Placeholder 2">
            <a:extLst>
              <a:ext uri="{FF2B5EF4-FFF2-40B4-BE49-F238E27FC236}">
                <a16:creationId xmlns:a16="http://schemas.microsoft.com/office/drawing/2014/main" id="{E4625306-46C1-AC5D-2869-790F36E8159B}"/>
              </a:ext>
            </a:extLst>
          </p:cNvPr>
          <p:cNvSpPr>
            <a:spLocks noGrp="1"/>
          </p:cNvSpPr>
          <p:nvPr>
            <p:ph idx="1"/>
          </p:nvPr>
        </p:nvSpPr>
        <p:spPr>
          <a:xfrm>
            <a:off x="838199" y="1825625"/>
            <a:ext cx="6519041" cy="4596196"/>
          </a:xfrm>
        </p:spPr>
        <p:txBody>
          <a:bodyPr>
            <a:normAutofit/>
          </a:bodyPr>
          <a:lstStyle/>
          <a:p>
            <a:r>
              <a:rPr lang="en-US" dirty="0"/>
              <a:t>For each of the four algorithms, we used a Training/Validation/Test data split with a ratio of 6:2:2.  A visualization of the data separation can be seen to the right.  With the scatter plot, it can be determined that the split is purely random with no bias towards either class meaning that predictions with the test data will not be skewed.  A visualization of the split ratio as a bar chart can also be seen to the right.</a:t>
            </a:r>
          </a:p>
        </p:txBody>
      </p:sp>
      <p:pic>
        <p:nvPicPr>
          <p:cNvPr id="5" name="Picture 4" descr="A diagram of email and a diagram of email&#10;&#10;AI-generated content may be incorrect.">
            <a:extLst>
              <a:ext uri="{FF2B5EF4-FFF2-40B4-BE49-F238E27FC236}">
                <a16:creationId xmlns:a16="http://schemas.microsoft.com/office/drawing/2014/main" id="{A5B72399-D897-CA5B-6115-C4F1B7C3B6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9337" y="260126"/>
            <a:ext cx="4067512" cy="3050634"/>
          </a:xfrm>
          <a:prstGeom prst="rect">
            <a:avLst/>
          </a:prstGeom>
        </p:spPr>
      </p:pic>
      <p:pic>
        <p:nvPicPr>
          <p:cNvPr id="7" name="Picture 6" descr="A graph with blue squares&#10;&#10;AI-generated content may be incorrect.">
            <a:extLst>
              <a:ext uri="{FF2B5EF4-FFF2-40B4-BE49-F238E27FC236}">
                <a16:creationId xmlns:a16="http://schemas.microsoft.com/office/drawing/2014/main" id="{CD19A167-D29F-118E-A61D-C3B57A7174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3289" y="3492172"/>
            <a:ext cx="4501055" cy="3000703"/>
          </a:xfrm>
          <a:prstGeom prst="rect">
            <a:avLst/>
          </a:prstGeom>
        </p:spPr>
      </p:pic>
    </p:spTree>
    <p:extLst>
      <p:ext uri="{BB962C8B-B14F-4D97-AF65-F5344CB8AC3E}">
        <p14:creationId xmlns:p14="http://schemas.microsoft.com/office/powerpoint/2010/main" val="1963392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CB3B6-E1EB-D3AF-D762-9EBA9EC3E8AE}"/>
              </a:ext>
            </a:extLst>
          </p:cNvPr>
          <p:cNvSpPr>
            <a:spLocks noGrp="1"/>
          </p:cNvSpPr>
          <p:nvPr>
            <p:ph type="title"/>
          </p:nvPr>
        </p:nvSpPr>
        <p:spPr/>
        <p:txBody>
          <a:bodyPr/>
          <a:lstStyle/>
          <a:p>
            <a:r>
              <a:rPr lang="en-US" dirty="0"/>
              <a:t>KNN</a:t>
            </a:r>
          </a:p>
        </p:txBody>
      </p:sp>
      <p:sp>
        <p:nvSpPr>
          <p:cNvPr id="3" name="Content Placeholder 2">
            <a:extLst>
              <a:ext uri="{FF2B5EF4-FFF2-40B4-BE49-F238E27FC236}">
                <a16:creationId xmlns:a16="http://schemas.microsoft.com/office/drawing/2014/main" id="{4699F46B-A518-795D-9088-84FBAF32A5C9}"/>
              </a:ext>
            </a:extLst>
          </p:cNvPr>
          <p:cNvSpPr>
            <a:spLocks noGrp="1"/>
          </p:cNvSpPr>
          <p:nvPr>
            <p:ph idx="1"/>
          </p:nvPr>
        </p:nvSpPr>
        <p:spPr/>
        <p:txBody>
          <a:bodyPr/>
          <a:lstStyle/>
          <a:p>
            <a:r>
              <a:rPr lang="en-US" dirty="0"/>
              <a:t>The first algorithm tested for this dataset was KNN.  To get the best result possible, we used hyperparameter tuning to search for the best k value which ended up being a k value of 11.  For the Training/Validation/Test data split, we used a ratio of 6:2:2.</a:t>
            </a:r>
          </a:p>
        </p:txBody>
      </p:sp>
    </p:spTree>
    <p:extLst>
      <p:ext uri="{BB962C8B-B14F-4D97-AF65-F5344CB8AC3E}">
        <p14:creationId xmlns:p14="http://schemas.microsoft.com/office/powerpoint/2010/main" val="1523873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838B0-DF72-CA7C-6853-99224A2AEB68}"/>
              </a:ext>
            </a:extLst>
          </p:cNvPr>
          <p:cNvSpPr>
            <a:spLocks noGrp="1"/>
          </p:cNvSpPr>
          <p:nvPr>
            <p:ph type="title"/>
          </p:nvPr>
        </p:nvSpPr>
        <p:spPr/>
        <p:txBody>
          <a:bodyPr/>
          <a:lstStyle/>
          <a:p>
            <a:r>
              <a:rPr lang="en-US"/>
              <a:t>KNN Performance</a:t>
            </a:r>
            <a:endParaRPr lang="en-US" dirty="0"/>
          </a:p>
        </p:txBody>
      </p:sp>
      <p:sp>
        <p:nvSpPr>
          <p:cNvPr id="3" name="Content Placeholder 2">
            <a:extLst>
              <a:ext uri="{FF2B5EF4-FFF2-40B4-BE49-F238E27FC236}">
                <a16:creationId xmlns:a16="http://schemas.microsoft.com/office/drawing/2014/main" id="{61EAA03F-3305-7D42-185B-03AA59E69872}"/>
              </a:ext>
            </a:extLst>
          </p:cNvPr>
          <p:cNvSpPr>
            <a:spLocks noGrp="1"/>
          </p:cNvSpPr>
          <p:nvPr>
            <p:ph idx="1"/>
          </p:nvPr>
        </p:nvSpPr>
        <p:spPr>
          <a:xfrm>
            <a:off x="838200" y="1825625"/>
            <a:ext cx="5257800" cy="4351338"/>
          </a:xfrm>
        </p:spPr>
        <p:txBody>
          <a:bodyPr>
            <a:normAutofit fontScale="92500" lnSpcReduction="10000"/>
          </a:bodyPr>
          <a:lstStyle/>
          <a:p>
            <a:r>
              <a:rPr lang="en-US" dirty="0"/>
              <a:t>The performance of the KNN algorithm was fairly good, with the best k of 11 giving an accuracy of 89.57%.  The specificity, however, is considerable low at 71.82%.  These scores can be seen in the bar graph to the right.  As for the overall shape of the plot, we can notice fairly easily the datapoint that were predicted incorrectly in the scatter plot to the right, but the overall shape of the graph is consistent with the true values.</a:t>
            </a:r>
          </a:p>
        </p:txBody>
      </p:sp>
      <p:pic>
        <p:nvPicPr>
          <p:cNvPr id="7" name="Picture 6" descr="A chart with blue and orange dots&#10;&#10;AI-generated content may be incorrect.">
            <a:extLst>
              <a:ext uri="{FF2B5EF4-FFF2-40B4-BE49-F238E27FC236}">
                <a16:creationId xmlns:a16="http://schemas.microsoft.com/office/drawing/2014/main" id="{10D74B18-1268-4489-76FC-E5F4B26452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2970" y="128515"/>
            <a:ext cx="4525625" cy="3394219"/>
          </a:xfrm>
          <a:prstGeom prst="rect">
            <a:avLst/>
          </a:prstGeom>
        </p:spPr>
      </p:pic>
      <p:pic>
        <p:nvPicPr>
          <p:cNvPr id="9" name="Picture 8">
            <a:extLst>
              <a:ext uri="{FF2B5EF4-FFF2-40B4-BE49-F238E27FC236}">
                <a16:creationId xmlns:a16="http://schemas.microsoft.com/office/drawing/2014/main" id="{5EB9881B-6358-FC26-5B57-62E6A8CA0E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2970" y="3670586"/>
            <a:ext cx="4588349" cy="3058899"/>
          </a:xfrm>
          <a:prstGeom prst="rect">
            <a:avLst/>
          </a:prstGeom>
        </p:spPr>
      </p:pic>
    </p:spTree>
    <p:extLst>
      <p:ext uri="{BB962C8B-B14F-4D97-AF65-F5344CB8AC3E}">
        <p14:creationId xmlns:p14="http://schemas.microsoft.com/office/powerpoint/2010/main" val="1651859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1DAFF-6A9C-D42B-A064-141BD1B82F7C}"/>
              </a:ext>
            </a:extLst>
          </p:cNvPr>
          <p:cNvSpPr>
            <a:spLocks noGrp="1"/>
          </p:cNvSpPr>
          <p:nvPr>
            <p:ph type="title"/>
          </p:nvPr>
        </p:nvSpPr>
        <p:spPr/>
        <p:txBody>
          <a:bodyPr/>
          <a:lstStyle/>
          <a:p>
            <a:r>
              <a:rPr lang="en-US" dirty="0"/>
              <a:t>KNN Performance (cont.)</a:t>
            </a:r>
          </a:p>
        </p:txBody>
      </p:sp>
      <p:sp>
        <p:nvSpPr>
          <p:cNvPr id="3" name="Content Placeholder 2">
            <a:extLst>
              <a:ext uri="{FF2B5EF4-FFF2-40B4-BE49-F238E27FC236}">
                <a16:creationId xmlns:a16="http://schemas.microsoft.com/office/drawing/2014/main" id="{744E99A7-D679-6CE4-6DF9-61099D654FAB}"/>
              </a:ext>
            </a:extLst>
          </p:cNvPr>
          <p:cNvSpPr>
            <a:spLocks noGrp="1"/>
          </p:cNvSpPr>
          <p:nvPr>
            <p:ph idx="1"/>
          </p:nvPr>
        </p:nvSpPr>
        <p:spPr>
          <a:xfrm>
            <a:off x="451945" y="1382110"/>
            <a:ext cx="6243145" cy="5207876"/>
          </a:xfrm>
        </p:spPr>
        <p:txBody>
          <a:bodyPr/>
          <a:lstStyle/>
          <a:p>
            <a:r>
              <a:rPr lang="en-US" dirty="0"/>
              <a:t>By using arbitrary K values of 1, 5, 15, 25, and 50, we can further test the model’s performance by comparing the performance scores of each K value.  Looking at the figure to the right, we can notice that accuracy seems to drop overall as K increases.  Additionally, as K increases, specificity initially rises but starts to drop drastically.  </a:t>
            </a:r>
          </a:p>
        </p:txBody>
      </p:sp>
      <p:pic>
        <p:nvPicPr>
          <p:cNvPr id="7" name="Picture 6" descr="A group of blue rectangular bars&#10;&#10;AI-generated content may be incorrect.">
            <a:extLst>
              <a:ext uri="{FF2B5EF4-FFF2-40B4-BE49-F238E27FC236}">
                <a16:creationId xmlns:a16="http://schemas.microsoft.com/office/drawing/2014/main" id="{F18CCA36-13B7-B0C7-01A2-FEF989313F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8059" y="70945"/>
            <a:ext cx="5037083" cy="6716110"/>
          </a:xfrm>
          <a:prstGeom prst="rect">
            <a:avLst/>
          </a:prstGeom>
        </p:spPr>
      </p:pic>
    </p:spTree>
    <p:extLst>
      <p:ext uri="{BB962C8B-B14F-4D97-AF65-F5344CB8AC3E}">
        <p14:creationId xmlns:p14="http://schemas.microsoft.com/office/powerpoint/2010/main" val="2527526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0421C-CCCE-4DB2-3637-84EE473280A9}"/>
              </a:ext>
            </a:extLst>
          </p:cNvPr>
          <p:cNvSpPr>
            <a:spLocks noGrp="1"/>
          </p:cNvSpPr>
          <p:nvPr>
            <p:ph type="title"/>
          </p:nvPr>
        </p:nvSpPr>
        <p:spPr>
          <a:xfrm>
            <a:off x="0" y="0"/>
            <a:ext cx="10515600" cy="1325563"/>
          </a:xfrm>
        </p:spPr>
        <p:txBody>
          <a:bodyPr/>
          <a:lstStyle/>
          <a:p>
            <a:r>
              <a:rPr lang="en-US" dirty="0"/>
              <a:t>KNN Error Curves</a:t>
            </a:r>
          </a:p>
        </p:txBody>
      </p:sp>
      <p:sp>
        <p:nvSpPr>
          <p:cNvPr id="3" name="Content Placeholder 2">
            <a:extLst>
              <a:ext uri="{FF2B5EF4-FFF2-40B4-BE49-F238E27FC236}">
                <a16:creationId xmlns:a16="http://schemas.microsoft.com/office/drawing/2014/main" id="{02AA7F06-5580-F75B-E23F-0A3913B4CF15}"/>
              </a:ext>
            </a:extLst>
          </p:cNvPr>
          <p:cNvSpPr>
            <a:spLocks noGrp="1"/>
          </p:cNvSpPr>
          <p:nvPr>
            <p:ph idx="1"/>
          </p:nvPr>
        </p:nvSpPr>
        <p:spPr>
          <a:xfrm>
            <a:off x="162910" y="1051034"/>
            <a:ext cx="7556938" cy="5407573"/>
          </a:xfrm>
        </p:spPr>
        <p:txBody>
          <a:bodyPr>
            <a:normAutofit lnSpcReduction="10000"/>
          </a:bodyPr>
          <a:lstStyle/>
          <a:p>
            <a:r>
              <a:rPr lang="en-US" dirty="0"/>
              <a:t>Looking at the ROC curve for our KNN model, we can notice that the TPR and FPR are equal along the entirety of the plot with the AUC being 0.943 meaning that our model is very accurate.  As for the loss curves, we can notice that the training accuracy/loss fluctuate, but it stays in the same general range.  The validation accuracy seems to slowly decline rather than fluctuate like the training accuracy.  There is also a very clear divergence between the training and validation curves as the number of Epochs increase, so it is best to use lower parameter values to ensure the best results as seen with the distance between the curves at epoch=2 being very small.</a:t>
            </a:r>
          </a:p>
        </p:txBody>
      </p:sp>
      <p:pic>
        <p:nvPicPr>
          <p:cNvPr id="5" name="Picture 4" descr="A graph of a function&#10;&#10;AI-generated content may be incorrect.">
            <a:extLst>
              <a:ext uri="{FF2B5EF4-FFF2-40B4-BE49-F238E27FC236}">
                <a16:creationId xmlns:a16="http://schemas.microsoft.com/office/drawing/2014/main" id="{06293CDF-A368-0755-B27A-A2151EDCC2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2117" y="0"/>
            <a:ext cx="4579883" cy="3434912"/>
          </a:xfrm>
          <a:prstGeom prst="rect">
            <a:avLst/>
          </a:prstGeom>
        </p:spPr>
      </p:pic>
      <p:pic>
        <p:nvPicPr>
          <p:cNvPr id="7" name="Picture 6" descr="A graph of different colored lines&#10;&#10;AI-generated content may be incorrect.">
            <a:extLst>
              <a:ext uri="{FF2B5EF4-FFF2-40B4-BE49-F238E27FC236}">
                <a16:creationId xmlns:a16="http://schemas.microsoft.com/office/drawing/2014/main" id="{6BC483A1-770D-2181-391F-B6EF5EAC9C6E}"/>
              </a:ext>
            </a:extLst>
          </p:cNvPr>
          <p:cNvPicPr>
            <a:picLocks noChangeAspect="1"/>
          </p:cNvPicPr>
          <p:nvPr/>
        </p:nvPicPr>
        <p:blipFill>
          <a:blip r:embed="rId3">
            <a:extLst>
              <a:ext uri="{28A0092B-C50C-407E-A947-70E740481C1C}">
                <a14:useLocalDpi xmlns:a14="http://schemas.microsoft.com/office/drawing/2010/main" val="0"/>
              </a:ext>
            </a:extLst>
          </a:blip>
          <a:srcRect l="6566" r="8120"/>
          <a:stretch/>
        </p:blipFill>
        <p:spPr>
          <a:xfrm>
            <a:off x="7719848" y="3363310"/>
            <a:ext cx="4472152" cy="3494690"/>
          </a:xfrm>
          <a:prstGeom prst="rect">
            <a:avLst/>
          </a:prstGeom>
        </p:spPr>
      </p:pic>
    </p:spTree>
    <p:extLst>
      <p:ext uri="{BB962C8B-B14F-4D97-AF65-F5344CB8AC3E}">
        <p14:creationId xmlns:p14="http://schemas.microsoft.com/office/powerpoint/2010/main" val="4120657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1311E-9E8C-64EE-7314-FF83E0A043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EF64F6-2359-2CAD-E59C-2B046EC890FE}"/>
              </a:ext>
            </a:extLst>
          </p:cNvPr>
          <p:cNvSpPr>
            <a:spLocks noGrp="1"/>
          </p:cNvSpPr>
          <p:nvPr>
            <p:ph type="title"/>
          </p:nvPr>
        </p:nvSpPr>
        <p:spPr/>
        <p:txBody>
          <a:bodyPr/>
          <a:lstStyle/>
          <a:p>
            <a:r>
              <a:rPr lang="en-US" dirty="0"/>
              <a:t>DT</a:t>
            </a:r>
          </a:p>
        </p:txBody>
      </p:sp>
      <p:sp>
        <p:nvSpPr>
          <p:cNvPr id="3" name="Content Placeholder 2">
            <a:extLst>
              <a:ext uri="{FF2B5EF4-FFF2-40B4-BE49-F238E27FC236}">
                <a16:creationId xmlns:a16="http://schemas.microsoft.com/office/drawing/2014/main" id="{D4CAEA75-6C2D-057F-E0C6-10D65B8FBB61}"/>
              </a:ext>
            </a:extLst>
          </p:cNvPr>
          <p:cNvSpPr>
            <a:spLocks noGrp="1"/>
          </p:cNvSpPr>
          <p:nvPr>
            <p:ph idx="1"/>
          </p:nvPr>
        </p:nvSpPr>
        <p:spPr/>
        <p:txBody>
          <a:bodyPr/>
          <a:lstStyle/>
          <a:p>
            <a:r>
              <a:rPr lang="en-US" dirty="0"/>
              <a:t>The second algorithm tested for this dataset was Decision Trees.  For the depth, we chose not to limit the tree to a maximum in order to ensure that all values are used.  Our full tree can be seen below along with a small snapshot of a section of the tree.</a:t>
            </a:r>
          </a:p>
        </p:txBody>
      </p:sp>
      <p:pic>
        <p:nvPicPr>
          <p:cNvPr id="5" name="Picture 4" descr="A group of people in a line&#10;&#10;AI-generated content may be incorrect.">
            <a:extLst>
              <a:ext uri="{FF2B5EF4-FFF2-40B4-BE49-F238E27FC236}">
                <a16:creationId xmlns:a16="http://schemas.microsoft.com/office/drawing/2014/main" id="{B3D9B8A3-D48A-A654-5107-E96A8ED9FAF6}"/>
              </a:ext>
            </a:extLst>
          </p:cNvPr>
          <p:cNvPicPr>
            <a:picLocks noChangeAspect="1"/>
          </p:cNvPicPr>
          <p:nvPr/>
        </p:nvPicPr>
        <p:blipFill>
          <a:blip r:embed="rId2">
            <a:extLst>
              <a:ext uri="{28A0092B-C50C-407E-A947-70E740481C1C}">
                <a14:useLocalDpi xmlns:a14="http://schemas.microsoft.com/office/drawing/2010/main" val="0"/>
              </a:ext>
            </a:extLst>
          </a:blip>
          <a:srcRect l="11931" t="12031" r="9356" b="9930"/>
          <a:stretch/>
        </p:blipFill>
        <p:spPr>
          <a:xfrm>
            <a:off x="457200" y="4072759"/>
            <a:ext cx="3209523" cy="2545638"/>
          </a:xfrm>
          <a:prstGeom prst="rect">
            <a:avLst/>
          </a:prstGeom>
        </p:spPr>
      </p:pic>
      <p:pic>
        <p:nvPicPr>
          <p:cNvPr id="8" name="Picture 7">
            <a:extLst>
              <a:ext uri="{FF2B5EF4-FFF2-40B4-BE49-F238E27FC236}">
                <a16:creationId xmlns:a16="http://schemas.microsoft.com/office/drawing/2014/main" id="{781E76B3-7873-989C-A711-21DB12E9FBBA}"/>
              </a:ext>
            </a:extLst>
          </p:cNvPr>
          <p:cNvPicPr>
            <a:picLocks noChangeAspect="1"/>
          </p:cNvPicPr>
          <p:nvPr/>
        </p:nvPicPr>
        <p:blipFill>
          <a:blip r:embed="rId3"/>
          <a:stretch>
            <a:fillRect/>
          </a:stretch>
        </p:blipFill>
        <p:spPr>
          <a:xfrm>
            <a:off x="5686096" y="3495982"/>
            <a:ext cx="4193628" cy="3248540"/>
          </a:xfrm>
          <a:prstGeom prst="rect">
            <a:avLst/>
          </a:prstGeom>
        </p:spPr>
      </p:pic>
    </p:spTree>
    <p:extLst>
      <p:ext uri="{BB962C8B-B14F-4D97-AF65-F5344CB8AC3E}">
        <p14:creationId xmlns:p14="http://schemas.microsoft.com/office/powerpoint/2010/main" val="544857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98EB9-7E91-2DF2-EDFE-EA880B0E66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1A4263-8B2E-081A-D871-7D0FB3BA5A65}"/>
              </a:ext>
            </a:extLst>
          </p:cNvPr>
          <p:cNvSpPr>
            <a:spLocks noGrp="1"/>
          </p:cNvSpPr>
          <p:nvPr>
            <p:ph type="title"/>
          </p:nvPr>
        </p:nvSpPr>
        <p:spPr/>
        <p:txBody>
          <a:bodyPr/>
          <a:lstStyle/>
          <a:p>
            <a:r>
              <a:rPr lang="en-US" dirty="0"/>
              <a:t>Decision Tree Performance</a:t>
            </a:r>
          </a:p>
        </p:txBody>
      </p:sp>
      <p:sp>
        <p:nvSpPr>
          <p:cNvPr id="3" name="Content Placeholder 2">
            <a:extLst>
              <a:ext uri="{FF2B5EF4-FFF2-40B4-BE49-F238E27FC236}">
                <a16:creationId xmlns:a16="http://schemas.microsoft.com/office/drawing/2014/main" id="{9367A79E-C6BE-7897-59FC-ED621320E172}"/>
              </a:ext>
            </a:extLst>
          </p:cNvPr>
          <p:cNvSpPr>
            <a:spLocks noGrp="1"/>
          </p:cNvSpPr>
          <p:nvPr>
            <p:ph idx="1"/>
          </p:nvPr>
        </p:nvSpPr>
        <p:spPr>
          <a:xfrm>
            <a:off x="838200" y="1825625"/>
            <a:ext cx="5257800" cy="4351338"/>
          </a:xfrm>
        </p:spPr>
        <p:txBody>
          <a:bodyPr>
            <a:normAutofit/>
          </a:bodyPr>
          <a:lstStyle/>
          <a:p>
            <a:r>
              <a:rPr lang="en-US" dirty="0"/>
              <a:t>The performance of the decision tree was very good.  As seen in the bar chart, the accuracy, recall, and F-1 Scores were all above 90% with specificity not far behind at 88.32%.  On the scatter plot, we can notice some misclassified datapoints, but the overall shape is consistent with the truth values.</a:t>
            </a:r>
          </a:p>
        </p:txBody>
      </p:sp>
      <p:pic>
        <p:nvPicPr>
          <p:cNvPr id="5" name="Picture 4" descr="A chart with blue and orange dots&#10;&#10;AI-generated content may be incorrect.">
            <a:extLst>
              <a:ext uri="{FF2B5EF4-FFF2-40B4-BE49-F238E27FC236}">
                <a16:creationId xmlns:a16="http://schemas.microsoft.com/office/drawing/2014/main" id="{E8EA361F-94F7-47C0-D456-76B794135BE4}"/>
              </a:ext>
            </a:extLst>
          </p:cNvPr>
          <p:cNvPicPr>
            <a:picLocks noChangeAspect="1"/>
          </p:cNvPicPr>
          <p:nvPr/>
        </p:nvPicPr>
        <p:blipFill>
          <a:blip r:embed="rId2">
            <a:extLst>
              <a:ext uri="{28A0092B-C50C-407E-A947-70E740481C1C}">
                <a14:useLocalDpi xmlns:a14="http://schemas.microsoft.com/office/drawing/2010/main" val="0"/>
              </a:ext>
            </a:extLst>
          </a:blip>
          <a:srcRect l="6610" t="5650" r="8262" b="6657"/>
          <a:stretch/>
        </p:blipFill>
        <p:spPr>
          <a:xfrm>
            <a:off x="7838716" y="1"/>
            <a:ext cx="4353284" cy="3363310"/>
          </a:xfrm>
          <a:prstGeom prst="rect">
            <a:avLst/>
          </a:prstGeom>
        </p:spPr>
      </p:pic>
      <p:pic>
        <p:nvPicPr>
          <p:cNvPr id="8" name="Picture 7" descr="A blue rectangular bars with white text&#10;&#10;AI-generated content may be incorrect.">
            <a:extLst>
              <a:ext uri="{FF2B5EF4-FFF2-40B4-BE49-F238E27FC236}">
                <a16:creationId xmlns:a16="http://schemas.microsoft.com/office/drawing/2014/main" id="{7A8B4555-7452-B5F6-FB26-6F39CFC44365}"/>
              </a:ext>
            </a:extLst>
          </p:cNvPr>
          <p:cNvPicPr>
            <a:picLocks noChangeAspect="1"/>
          </p:cNvPicPr>
          <p:nvPr/>
        </p:nvPicPr>
        <p:blipFill>
          <a:blip r:embed="rId3">
            <a:extLst>
              <a:ext uri="{28A0092B-C50C-407E-A947-70E740481C1C}">
                <a14:useLocalDpi xmlns:a14="http://schemas.microsoft.com/office/drawing/2010/main" val="0"/>
              </a:ext>
            </a:extLst>
          </a:blip>
          <a:srcRect l="7906" t="8122" r="8978" b="6743"/>
          <a:stretch/>
        </p:blipFill>
        <p:spPr>
          <a:xfrm>
            <a:off x="7374357" y="3568262"/>
            <a:ext cx="4817644" cy="3289738"/>
          </a:xfrm>
          <a:prstGeom prst="rect">
            <a:avLst/>
          </a:prstGeom>
        </p:spPr>
      </p:pic>
    </p:spTree>
    <p:extLst>
      <p:ext uri="{BB962C8B-B14F-4D97-AF65-F5344CB8AC3E}">
        <p14:creationId xmlns:p14="http://schemas.microsoft.com/office/powerpoint/2010/main" val="3030309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9FB1C-93F3-B22F-B121-7F714C64EF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E2FFEE-F87F-38FA-F556-81BE56667C9B}"/>
              </a:ext>
            </a:extLst>
          </p:cNvPr>
          <p:cNvSpPr>
            <a:spLocks noGrp="1"/>
          </p:cNvSpPr>
          <p:nvPr>
            <p:ph type="title"/>
          </p:nvPr>
        </p:nvSpPr>
        <p:spPr/>
        <p:txBody>
          <a:bodyPr/>
          <a:lstStyle/>
          <a:p>
            <a:r>
              <a:rPr lang="en-US" dirty="0"/>
              <a:t>DT Performance (cont.)</a:t>
            </a:r>
          </a:p>
        </p:txBody>
      </p:sp>
      <p:sp>
        <p:nvSpPr>
          <p:cNvPr id="3" name="Content Placeholder 2">
            <a:extLst>
              <a:ext uri="{FF2B5EF4-FFF2-40B4-BE49-F238E27FC236}">
                <a16:creationId xmlns:a16="http://schemas.microsoft.com/office/drawing/2014/main" id="{CCA5618C-8C01-D2F6-01CD-ADA2096B8A65}"/>
              </a:ext>
            </a:extLst>
          </p:cNvPr>
          <p:cNvSpPr>
            <a:spLocks noGrp="1"/>
          </p:cNvSpPr>
          <p:nvPr>
            <p:ph idx="1"/>
          </p:nvPr>
        </p:nvSpPr>
        <p:spPr>
          <a:xfrm>
            <a:off x="451945" y="1382110"/>
            <a:ext cx="6243145" cy="5207876"/>
          </a:xfrm>
        </p:spPr>
        <p:txBody>
          <a:bodyPr/>
          <a:lstStyle/>
          <a:p>
            <a:r>
              <a:rPr lang="en-US" dirty="0"/>
              <a:t>Using arbitrary depth values of 25, 50, 100, 150, and 250, we can further test the tree’s performance as depth increases.  As depth increased, however, there was little to no change between the performance scores with each score falling within a similar range of around a 0.02 difference.  This shows that the depth of the tree has little to no effect on the accuracy of our data.</a:t>
            </a:r>
          </a:p>
        </p:txBody>
      </p:sp>
      <p:pic>
        <p:nvPicPr>
          <p:cNvPr id="5" name="Picture 4" descr="A group of blue rectangular bars&#10;&#10;AI-generated content may be incorrect.">
            <a:extLst>
              <a:ext uri="{FF2B5EF4-FFF2-40B4-BE49-F238E27FC236}">
                <a16:creationId xmlns:a16="http://schemas.microsoft.com/office/drawing/2014/main" id="{E9373CD1-A566-5CA4-B8BA-7B0566B545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08430" y="0"/>
            <a:ext cx="5143500" cy="6858000"/>
          </a:xfrm>
          <a:prstGeom prst="rect">
            <a:avLst/>
          </a:prstGeom>
        </p:spPr>
      </p:pic>
    </p:spTree>
    <p:extLst>
      <p:ext uri="{BB962C8B-B14F-4D97-AF65-F5344CB8AC3E}">
        <p14:creationId xmlns:p14="http://schemas.microsoft.com/office/powerpoint/2010/main" val="4127391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A053D-56DB-973E-0A8D-9054C61B6E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D2A401-2C33-BE1E-CB0B-66C5F8BA83AA}"/>
              </a:ext>
            </a:extLst>
          </p:cNvPr>
          <p:cNvSpPr>
            <a:spLocks noGrp="1"/>
          </p:cNvSpPr>
          <p:nvPr>
            <p:ph type="title"/>
          </p:nvPr>
        </p:nvSpPr>
        <p:spPr>
          <a:xfrm>
            <a:off x="0" y="0"/>
            <a:ext cx="10515600" cy="1325563"/>
          </a:xfrm>
        </p:spPr>
        <p:txBody>
          <a:bodyPr/>
          <a:lstStyle/>
          <a:p>
            <a:r>
              <a:rPr lang="en-US" dirty="0"/>
              <a:t>DT Error Curves</a:t>
            </a:r>
          </a:p>
        </p:txBody>
      </p:sp>
      <p:sp>
        <p:nvSpPr>
          <p:cNvPr id="3" name="Content Placeholder 2">
            <a:extLst>
              <a:ext uri="{FF2B5EF4-FFF2-40B4-BE49-F238E27FC236}">
                <a16:creationId xmlns:a16="http://schemas.microsoft.com/office/drawing/2014/main" id="{0551EB0A-63E1-E573-4D67-071DF3CA5FB1}"/>
              </a:ext>
            </a:extLst>
          </p:cNvPr>
          <p:cNvSpPr>
            <a:spLocks noGrp="1"/>
          </p:cNvSpPr>
          <p:nvPr>
            <p:ph idx="1"/>
          </p:nvPr>
        </p:nvSpPr>
        <p:spPr>
          <a:xfrm>
            <a:off x="162910" y="1051034"/>
            <a:ext cx="7556938" cy="5407573"/>
          </a:xfrm>
        </p:spPr>
        <p:txBody>
          <a:bodyPr>
            <a:normAutofit fontScale="92500" lnSpcReduction="10000"/>
          </a:bodyPr>
          <a:lstStyle/>
          <a:p>
            <a:r>
              <a:rPr lang="en-US" dirty="0"/>
              <a:t>Looking at the ROC curve for the decision tree, we can notice that there is only one bend.  A single sharp bend on an ROC curve usually implies that the model has near perfect separation.  The AUC score of 0.913 also implies that the model is really good.  Looking at the Accuracy/Loss plot, we can notice that the training and validation curves cross over in the lower epoch values and begin to spread out slightly as the epoch value increases, however, the accuracy scores get better as the epoch value increases.  Additionally, the separation is very small with the two curves seeming to plateau.  This implies that higher valued parameters do not have much effect on accuracy.</a:t>
            </a:r>
          </a:p>
        </p:txBody>
      </p:sp>
      <p:pic>
        <p:nvPicPr>
          <p:cNvPr id="6" name="Picture 5" descr="A graph with a line and a blue line&#10;&#10;AI-generated content may be incorrect.">
            <a:extLst>
              <a:ext uri="{FF2B5EF4-FFF2-40B4-BE49-F238E27FC236}">
                <a16:creationId xmlns:a16="http://schemas.microsoft.com/office/drawing/2014/main" id="{ED7CD244-48F3-C311-329B-3B350210536B}"/>
              </a:ext>
            </a:extLst>
          </p:cNvPr>
          <p:cNvPicPr>
            <a:picLocks noChangeAspect="1"/>
          </p:cNvPicPr>
          <p:nvPr/>
        </p:nvPicPr>
        <p:blipFill>
          <a:blip r:embed="rId2">
            <a:extLst>
              <a:ext uri="{28A0092B-C50C-407E-A947-70E740481C1C}">
                <a14:useLocalDpi xmlns:a14="http://schemas.microsoft.com/office/drawing/2010/main" val="0"/>
              </a:ext>
            </a:extLst>
          </a:blip>
          <a:srcRect l="4741" t="7281" r="8118" b="3065"/>
          <a:stretch/>
        </p:blipFill>
        <p:spPr>
          <a:xfrm>
            <a:off x="7742163" y="68318"/>
            <a:ext cx="4355244" cy="3360682"/>
          </a:xfrm>
          <a:prstGeom prst="rect">
            <a:avLst/>
          </a:prstGeom>
        </p:spPr>
      </p:pic>
      <p:pic>
        <p:nvPicPr>
          <p:cNvPr id="9" name="Picture 8" descr="A graph of a number of colored lines&#10;&#10;AI-generated content may be incorrect.">
            <a:extLst>
              <a:ext uri="{FF2B5EF4-FFF2-40B4-BE49-F238E27FC236}">
                <a16:creationId xmlns:a16="http://schemas.microsoft.com/office/drawing/2014/main" id="{E1E4E011-AFED-32E6-07A3-86FF6D4F7FBE}"/>
              </a:ext>
            </a:extLst>
          </p:cNvPr>
          <p:cNvPicPr>
            <a:picLocks noChangeAspect="1"/>
          </p:cNvPicPr>
          <p:nvPr/>
        </p:nvPicPr>
        <p:blipFill>
          <a:blip r:embed="rId3">
            <a:extLst>
              <a:ext uri="{28A0092B-C50C-407E-A947-70E740481C1C}">
                <a14:useLocalDpi xmlns:a14="http://schemas.microsoft.com/office/drawing/2010/main" val="0"/>
              </a:ext>
            </a:extLst>
          </a:blip>
          <a:srcRect l="6715" t="7486" r="8793" b="3743"/>
          <a:stretch/>
        </p:blipFill>
        <p:spPr>
          <a:xfrm>
            <a:off x="7847843" y="3815255"/>
            <a:ext cx="4344157" cy="3042745"/>
          </a:xfrm>
          <a:prstGeom prst="rect">
            <a:avLst/>
          </a:prstGeom>
        </p:spPr>
      </p:pic>
    </p:spTree>
    <p:extLst>
      <p:ext uri="{BB962C8B-B14F-4D97-AF65-F5344CB8AC3E}">
        <p14:creationId xmlns:p14="http://schemas.microsoft.com/office/powerpoint/2010/main" val="3237524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7312E-45A4-AC93-1ECD-08A6FC358B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D32A1-9225-7A91-17BF-95FDED8CE8D0}"/>
              </a:ext>
            </a:extLst>
          </p:cNvPr>
          <p:cNvSpPr>
            <a:spLocks noGrp="1"/>
          </p:cNvSpPr>
          <p:nvPr>
            <p:ph type="title"/>
          </p:nvPr>
        </p:nvSpPr>
        <p:spPr/>
        <p:txBody>
          <a:bodyPr/>
          <a:lstStyle/>
          <a:p>
            <a:r>
              <a:rPr lang="en-US" dirty="0"/>
              <a:t>ANN</a:t>
            </a:r>
          </a:p>
        </p:txBody>
      </p:sp>
      <p:sp>
        <p:nvSpPr>
          <p:cNvPr id="3" name="Content Placeholder 2">
            <a:extLst>
              <a:ext uri="{FF2B5EF4-FFF2-40B4-BE49-F238E27FC236}">
                <a16:creationId xmlns:a16="http://schemas.microsoft.com/office/drawing/2014/main" id="{0FD0FD65-FA5D-46B2-8DC0-63820A45676C}"/>
              </a:ext>
            </a:extLst>
          </p:cNvPr>
          <p:cNvSpPr>
            <a:spLocks noGrp="1"/>
          </p:cNvSpPr>
          <p:nvPr>
            <p:ph idx="1"/>
          </p:nvPr>
        </p:nvSpPr>
        <p:spPr/>
        <p:txBody>
          <a:bodyPr/>
          <a:lstStyle/>
          <a:p>
            <a:r>
              <a:rPr lang="en-US" dirty="0"/>
              <a:t>The third algorithm tested for this dataset was ANN.  For the parameters, we chose to use 64 units for the first layer, 32 units for the hidden layer, and 1 output unit for the last layer.  We used ‘</a:t>
            </a:r>
            <a:r>
              <a:rPr lang="en-US" dirty="0" err="1"/>
              <a:t>relu</a:t>
            </a:r>
            <a:r>
              <a:rPr lang="en-US" dirty="0"/>
              <a:t>’ activation for the model and ‘sigmoid’ for the output.  The loss function used was ‘</a:t>
            </a:r>
            <a:r>
              <a:rPr lang="en-US" dirty="0" err="1"/>
              <a:t>binary_crossentropy</a:t>
            </a:r>
            <a:r>
              <a:rPr lang="en-US" dirty="0"/>
              <a:t>.’</a:t>
            </a:r>
          </a:p>
        </p:txBody>
      </p:sp>
    </p:spTree>
    <p:extLst>
      <p:ext uri="{BB962C8B-B14F-4D97-AF65-F5344CB8AC3E}">
        <p14:creationId xmlns:p14="http://schemas.microsoft.com/office/powerpoint/2010/main" val="28210555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0A264-2EF1-76FF-F40B-9ED2474A07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24F9FB-D02E-6E3A-E822-509AC3529061}"/>
              </a:ext>
            </a:extLst>
          </p:cNvPr>
          <p:cNvSpPr>
            <a:spLocks noGrp="1"/>
          </p:cNvSpPr>
          <p:nvPr>
            <p:ph type="title"/>
          </p:nvPr>
        </p:nvSpPr>
        <p:spPr/>
        <p:txBody>
          <a:bodyPr/>
          <a:lstStyle/>
          <a:p>
            <a:r>
              <a:rPr lang="en-US" dirty="0"/>
              <a:t>ANN Performance</a:t>
            </a:r>
          </a:p>
        </p:txBody>
      </p:sp>
      <p:sp>
        <p:nvSpPr>
          <p:cNvPr id="3" name="Content Placeholder 2">
            <a:extLst>
              <a:ext uri="{FF2B5EF4-FFF2-40B4-BE49-F238E27FC236}">
                <a16:creationId xmlns:a16="http://schemas.microsoft.com/office/drawing/2014/main" id="{17E80D41-B913-F43B-9D36-32A24821E911}"/>
              </a:ext>
            </a:extLst>
          </p:cNvPr>
          <p:cNvSpPr>
            <a:spLocks noGrp="1"/>
          </p:cNvSpPr>
          <p:nvPr>
            <p:ph idx="1"/>
          </p:nvPr>
        </p:nvSpPr>
        <p:spPr>
          <a:xfrm>
            <a:off x="838200" y="1825625"/>
            <a:ext cx="5257800" cy="4351338"/>
          </a:xfrm>
        </p:spPr>
        <p:txBody>
          <a:bodyPr>
            <a:normAutofit/>
          </a:bodyPr>
          <a:lstStyle/>
          <a:p>
            <a:r>
              <a:rPr lang="en-US" dirty="0"/>
              <a:t>The performance of the ANN model was very good with the lowest of the performance scores—shown to the right—being specificity with a value of 95.19%.  The scatterplot, while similar to the plots shown previously, also has less noticeable misclassification—though some can still be seen.</a:t>
            </a:r>
          </a:p>
        </p:txBody>
      </p:sp>
      <p:pic>
        <p:nvPicPr>
          <p:cNvPr id="6" name="Picture 5" descr="A chart with blue and orange dots&#10;&#10;AI-generated content may be incorrect.">
            <a:extLst>
              <a:ext uri="{FF2B5EF4-FFF2-40B4-BE49-F238E27FC236}">
                <a16:creationId xmlns:a16="http://schemas.microsoft.com/office/drawing/2014/main" id="{56EC30C5-77DC-221D-81E0-A8F9A62DF730}"/>
              </a:ext>
            </a:extLst>
          </p:cNvPr>
          <p:cNvPicPr>
            <a:picLocks noChangeAspect="1"/>
          </p:cNvPicPr>
          <p:nvPr/>
        </p:nvPicPr>
        <p:blipFill>
          <a:blip r:embed="rId2">
            <a:extLst>
              <a:ext uri="{28A0092B-C50C-407E-A947-70E740481C1C}">
                <a14:useLocalDpi xmlns:a14="http://schemas.microsoft.com/office/drawing/2010/main" val="0"/>
              </a:ext>
            </a:extLst>
          </a:blip>
          <a:srcRect l="8909" t="7470" r="8333" b="6514"/>
          <a:stretch/>
        </p:blipFill>
        <p:spPr>
          <a:xfrm>
            <a:off x="7141780" y="1"/>
            <a:ext cx="4319752" cy="3367306"/>
          </a:xfrm>
          <a:prstGeom prst="rect">
            <a:avLst/>
          </a:prstGeom>
        </p:spPr>
      </p:pic>
      <p:pic>
        <p:nvPicPr>
          <p:cNvPr id="9" name="Picture 8" descr="A blue rectangular bars with white text&#10;&#10;AI-generated content may be incorrect.">
            <a:extLst>
              <a:ext uri="{FF2B5EF4-FFF2-40B4-BE49-F238E27FC236}">
                <a16:creationId xmlns:a16="http://schemas.microsoft.com/office/drawing/2014/main" id="{E89823A2-7C05-0D6E-1DC1-7F60A1718A83}"/>
              </a:ext>
            </a:extLst>
          </p:cNvPr>
          <p:cNvPicPr>
            <a:picLocks noChangeAspect="1"/>
          </p:cNvPicPr>
          <p:nvPr/>
        </p:nvPicPr>
        <p:blipFill>
          <a:blip r:embed="rId3">
            <a:extLst>
              <a:ext uri="{28A0092B-C50C-407E-A947-70E740481C1C}">
                <a14:useLocalDpi xmlns:a14="http://schemas.microsoft.com/office/drawing/2010/main" val="0"/>
              </a:ext>
            </a:extLst>
          </a:blip>
          <a:srcRect l="8978" t="8122" r="8417" b="7586"/>
          <a:stretch/>
        </p:blipFill>
        <p:spPr>
          <a:xfrm>
            <a:off x="6980918" y="3373820"/>
            <a:ext cx="5121744" cy="3484180"/>
          </a:xfrm>
          <a:prstGeom prst="rect">
            <a:avLst/>
          </a:prstGeom>
        </p:spPr>
      </p:pic>
    </p:spTree>
    <p:extLst>
      <p:ext uri="{BB962C8B-B14F-4D97-AF65-F5344CB8AC3E}">
        <p14:creationId xmlns:p14="http://schemas.microsoft.com/office/powerpoint/2010/main" val="12415191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3C67B-F7F5-0FAE-FBB4-2D421C556B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DA76C1-3B9A-0885-CC4C-2C9E02276E98}"/>
              </a:ext>
            </a:extLst>
          </p:cNvPr>
          <p:cNvSpPr>
            <a:spLocks noGrp="1"/>
          </p:cNvSpPr>
          <p:nvPr>
            <p:ph type="title"/>
          </p:nvPr>
        </p:nvSpPr>
        <p:spPr/>
        <p:txBody>
          <a:bodyPr/>
          <a:lstStyle/>
          <a:p>
            <a:r>
              <a:rPr lang="en-US" dirty="0"/>
              <a:t>ANN Performance (cont.)</a:t>
            </a:r>
          </a:p>
        </p:txBody>
      </p:sp>
      <p:sp>
        <p:nvSpPr>
          <p:cNvPr id="3" name="Content Placeholder 2">
            <a:extLst>
              <a:ext uri="{FF2B5EF4-FFF2-40B4-BE49-F238E27FC236}">
                <a16:creationId xmlns:a16="http://schemas.microsoft.com/office/drawing/2014/main" id="{1D0CB531-1AE5-A5FA-7B2F-22ACAE2DC66F}"/>
              </a:ext>
            </a:extLst>
          </p:cNvPr>
          <p:cNvSpPr>
            <a:spLocks noGrp="1"/>
          </p:cNvSpPr>
          <p:nvPr>
            <p:ph idx="1"/>
          </p:nvPr>
        </p:nvSpPr>
        <p:spPr>
          <a:xfrm>
            <a:off x="451945" y="1382110"/>
            <a:ext cx="6243145" cy="5207876"/>
          </a:xfrm>
        </p:spPr>
        <p:txBody>
          <a:bodyPr/>
          <a:lstStyle/>
          <a:p>
            <a:r>
              <a:rPr lang="en-US" dirty="0"/>
              <a:t>Using arbitrary input sizes of 2, 4, 8, 16, and 32 for the initial layer and input sizes of double the initial layer’s input size for the hidden layer, we can further test the model’s performance.  Initially, we can see that all 5 tests were very accurate with best performing model being the one with an input size of 8.  It had the best accuracy and F1-Scores of 97.2% and 98.04%, respectively, with the recall and specificity scores not far behind the highest values.</a:t>
            </a:r>
          </a:p>
        </p:txBody>
      </p:sp>
      <p:pic>
        <p:nvPicPr>
          <p:cNvPr id="6" name="Picture 5" descr="A group of blue rectangles&#10;&#10;AI-generated content may be incorrect.">
            <a:extLst>
              <a:ext uri="{FF2B5EF4-FFF2-40B4-BE49-F238E27FC236}">
                <a16:creationId xmlns:a16="http://schemas.microsoft.com/office/drawing/2014/main" id="{F3F2EB18-FF11-C4E3-5466-0867233CF5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8500" y="0"/>
            <a:ext cx="5143500" cy="6858000"/>
          </a:xfrm>
          <a:prstGeom prst="rect">
            <a:avLst/>
          </a:prstGeom>
        </p:spPr>
      </p:pic>
    </p:spTree>
    <p:extLst>
      <p:ext uri="{BB962C8B-B14F-4D97-AF65-F5344CB8AC3E}">
        <p14:creationId xmlns:p14="http://schemas.microsoft.com/office/powerpoint/2010/main" val="818658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55FD9-F2C7-554C-6A2D-EEA1C0CB6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618AC6-ECFD-3DFD-AFD6-D804190C9E1D}"/>
              </a:ext>
            </a:extLst>
          </p:cNvPr>
          <p:cNvSpPr>
            <a:spLocks noGrp="1"/>
          </p:cNvSpPr>
          <p:nvPr>
            <p:ph type="title"/>
          </p:nvPr>
        </p:nvSpPr>
        <p:spPr>
          <a:xfrm>
            <a:off x="0" y="0"/>
            <a:ext cx="10515600" cy="1325563"/>
          </a:xfrm>
        </p:spPr>
        <p:txBody>
          <a:bodyPr/>
          <a:lstStyle/>
          <a:p>
            <a:r>
              <a:rPr lang="en-US" dirty="0"/>
              <a:t>ANN Error Curves</a:t>
            </a:r>
          </a:p>
        </p:txBody>
      </p:sp>
      <p:sp>
        <p:nvSpPr>
          <p:cNvPr id="3" name="Content Placeholder 2">
            <a:extLst>
              <a:ext uri="{FF2B5EF4-FFF2-40B4-BE49-F238E27FC236}">
                <a16:creationId xmlns:a16="http://schemas.microsoft.com/office/drawing/2014/main" id="{C7A20913-D1E0-C39F-D397-0B8A2197AF69}"/>
              </a:ext>
            </a:extLst>
          </p:cNvPr>
          <p:cNvSpPr>
            <a:spLocks noGrp="1"/>
          </p:cNvSpPr>
          <p:nvPr>
            <p:ph idx="1"/>
          </p:nvPr>
        </p:nvSpPr>
        <p:spPr>
          <a:xfrm>
            <a:off x="162910" y="1051034"/>
            <a:ext cx="7556938" cy="5407573"/>
          </a:xfrm>
        </p:spPr>
        <p:txBody>
          <a:bodyPr>
            <a:normAutofit/>
          </a:bodyPr>
          <a:lstStyle/>
          <a:p>
            <a:r>
              <a:rPr lang="en-US" dirty="0"/>
              <a:t>The ROC curve for the ANN model is very good with the curve nearly resembling a perfect right angle.  Additionally, the AUC score of the model is 0.9952 which is very close to being a perfect score of 1.  For the Accuracy/Loss curve, we can first make note of the epoch range being shorter due to using the built-in model history since our model stops at epoch 6.  As for the curves, we can see that the validation curves don’t decrease much at all staying very close to 1.0.  The training accuracy does not drop at all, implying that higher epochs give better results.</a:t>
            </a:r>
          </a:p>
        </p:txBody>
      </p:sp>
      <p:pic>
        <p:nvPicPr>
          <p:cNvPr id="5" name="Picture 4" descr="A graph of a function&#10;&#10;AI-generated content may be incorrect.">
            <a:extLst>
              <a:ext uri="{FF2B5EF4-FFF2-40B4-BE49-F238E27FC236}">
                <a16:creationId xmlns:a16="http://schemas.microsoft.com/office/drawing/2014/main" id="{45063CEE-30A6-6D12-F14B-C9111BBB5A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70648" y="1"/>
            <a:ext cx="4421351" cy="3316013"/>
          </a:xfrm>
          <a:prstGeom prst="rect">
            <a:avLst/>
          </a:prstGeom>
        </p:spPr>
      </p:pic>
      <p:pic>
        <p:nvPicPr>
          <p:cNvPr id="8" name="Picture 7" descr="A graph of a graph&#10;&#10;AI-generated content may be incorrect.">
            <a:extLst>
              <a:ext uri="{FF2B5EF4-FFF2-40B4-BE49-F238E27FC236}">
                <a16:creationId xmlns:a16="http://schemas.microsoft.com/office/drawing/2014/main" id="{045D1FFB-4375-AA38-6509-FBA55D1D85DF}"/>
              </a:ext>
            </a:extLst>
          </p:cNvPr>
          <p:cNvPicPr>
            <a:picLocks noChangeAspect="1"/>
          </p:cNvPicPr>
          <p:nvPr/>
        </p:nvPicPr>
        <p:blipFill>
          <a:blip r:embed="rId3">
            <a:extLst>
              <a:ext uri="{28A0092B-C50C-407E-A947-70E740481C1C}">
                <a14:useLocalDpi xmlns:a14="http://schemas.microsoft.com/office/drawing/2010/main" val="0"/>
              </a:ext>
            </a:extLst>
          </a:blip>
          <a:srcRect l="7636" t="8812" r="8327" b="4828"/>
          <a:stretch/>
        </p:blipFill>
        <p:spPr>
          <a:xfrm>
            <a:off x="7766931" y="3641834"/>
            <a:ext cx="4314711" cy="2956035"/>
          </a:xfrm>
          <a:prstGeom prst="rect">
            <a:avLst/>
          </a:prstGeom>
        </p:spPr>
      </p:pic>
    </p:spTree>
    <p:extLst>
      <p:ext uri="{BB962C8B-B14F-4D97-AF65-F5344CB8AC3E}">
        <p14:creationId xmlns:p14="http://schemas.microsoft.com/office/powerpoint/2010/main" val="8172872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2843A-60A7-FDB1-5852-B93B43AA11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18F7F3-0725-D799-BDE1-19515135D871}"/>
              </a:ext>
            </a:extLst>
          </p:cNvPr>
          <p:cNvSpPr>
            <a:spLocks noGrp="1"/>
          </p:cNvSpPr>
          <p:nvPr>
            <p:ph type="title"/>
          </p:nvPr>
        </p:nvSpPr>
        <p:spPr/>
        <p:txBody>
          <a:bodyPr/>
          <a:lstStyle/>
          <a:p>
            <a:r>
              <a:rPr lang="en-US" dirty="0"/>
              <a:t>SVM</a:t>
            </a:r>
          </a:p>
        </p:txBody>
      </p:sp>
      <p:sp>
        <p:nvSpPr>
          <p:cNvPr id="3" name="Content Placeholder 2">
            <a:extLst>
              <a:ext uri="{FF2B5EF4-FFF2-40B4-BE49-F238E27FC236}">
                <a16:creationId xmlns:a16="http://schemas.microsoft.com/office/drawing/2014/main" id="{58A5583F-34F0-63D8-7EB6-46C7FF6A832F}"/>
              </a:ext>
            </a:extLst>
          </p:cNvPr>
          <p:cNvSpPr>
            <a:spLocks noGrp="1"/>
          </p:cNvSpPr>
          <p:nvPr>
            <p:ph idx="1"/>
          </p:nvPr>
        </p:nvSpPr>
        <p:spPr/>
        <p:txBody>
          <a:bodyPr/>
          <a:lstStyle/>
          <a:p>
            <a:r>
              <a:rPr lang="en-US" dirty="0"/>
              <a:t>The fourth and final algorithm tested for this dataset was SVM.  For the model we used SVC linear regression model with a random state of 42 and the default C value of 1.0.</a:t>
            </a:r>
          </a:p>
        </p:txBody>
      </p:sp>
    </p:spTree>
    <p:extLst>
      <p:ext uri="{BB962C8B-B14F-4D97-AF65-F5344CB8AC3E}">
        <p14:creationId xmlns:p14="http://schemas.microsoft.com/office/powerpoint/2010/main" val="1189206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64E24-08AD-467F-883E-CAB3F92CB0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2291E-CBB1-049D-47AB-13B731511E55}"/>
              </a:ext>
            </a:extLst>
          </p:cNvPr>
          <p:cNvSpPr>
            <a:spLocks noGrp="1"/>
          </p:cNvSpPr>
          <p:nvPr>
            <p:ph type="title"/>
          </p:nvPr>
        </p:nvSpPr>
        <p:spPr/>
        <p:txBody>
          <a:bodyPr/>
          <a:lstStyle/>
          <a:p>
            <a:r>
              <a:rPr lang="en-US" dirty="0"/>
              <a:t>SVM Performance</a:t>
            </a:r>
          </a:p>
        </p:txBody>
      </p:sp>
      <p:sp>
        <p:nvSpPr>
          <p:cNvPr id="3" name="Content Placeholder 2">
            <a:extLst>
              <a:ext uri="{FF2B5EF4-FFF2-40B4-BE49-F238E27FC236}">
                <a16:creationId xmlns:a16="http://schemas.microsoft.com/office/drawing/2014/main" id="{8F2AEB56-0AA2-50AD-4B45-E6400C49C8F0}"/>
              </a:ext>
            </a:extLst>
          </p:cNvPr>
          <p:cNvSpPr>
            <a:spLocks noGrp="1"/>
          </p:cNvSpPr>
          <p:nvPr>
            <p:ph idx="1"/>
          </p:nvPr>
        </p:nvSpPr>
        <p:spPr>
          <a:xfrm>
            <a:off x="838200" y="1825625"/>
            <a:ext cx="5257800" cy="4351338"/>
          </a:xfrm>
        </p:spPr>
        <p:txBody>
          <a:bodyPr>
            <a:normAutofit/>
          </a:bodyPr>
          <a:lstStyle/>
          <a:p>
            <a:r>
              <a:rPr lang="en-US" dirty="0"/>
              <a:t>The performance of our SVM model was very good, with the performance scores all lying in the 0.93-0.97 range.  Like the other models, the overall class separation of the scatterplot is consistent with the truth values with few visible misclassifies datapoints.</a:t>
            </a:r>
          </a:p>
        </p:txBody>
      </p:sp>
      <p:pic>
        <p:nvPicPr>
          <p:cNvPr id="5" name="Picture 4" descr="A chart with blue and orange dots&#10;&#10;AI-generated content may be incorrect.">
            <a:extLst>
              <a:ext uri="{FF2B5EF4-FFF2-40B4-BE49-F238E27FC236}">
                <a16:creationId xmlns:a16="http://schemas.microsoft.com/office/drawing/2014/main" id="{DE319684-7B36-579A-8AD9-605B4A03AD2F}"/>
              </a:ext>
            </a:extLst>
          </p:cNvPr>
          <p:cNvPicPr>
            <a:picLocks noChangeAspect="1"/>
          </p:cNvPicPr>
          <p:nvPr/>
        </p:nvPicPr>
        <p:blipFill>
          <a:blip r:embed="rId2">
            <a:extLst>
              <a:ext uri="{28A0092B-C50C-407E-A947-70E740481C1C}">
                <a14:useLocalDpi xmlns:a14="http://schemas.microsoft.com/office/drawing/2010/main" val="0"/>
              </a:ext>
            </a:extLst>
          </a:blip>
          <a:srcRect l="9051" t="7136" r="8765" b="6849"/>
          <a:stretch/>
        </p:blipFill>
        <p:spPr>
          <a:xfrm>
            <a:off x="7626158" y="52553"/>
            <a:ext cx="4565841" cy="3584026"/>
          </a:xfrm>
          <a:prstGeom prst="rect">
            <a:avLst/>
          </a:prstGeom>
        </p:spPr>
      </p:pic>
      <p:pic>
        <p:nvPicPr>
          <p:cNvPr id="8" name="Picture 7" descr="A blue rectangular bars with white text&#10;&#10;AI-generated content may be incorrect.">
            <a:extLst>
              <a:ext uri="{FF2B5EF4-FFF2-40B4-BE49-F238E27FC236}">
                <a16:creationId xmlns:a16="http://schemas.microsoft.com/office/drawing/2014/main" id="{558BB8D2-3425-D086-3340-C35F5780DFA8}"/>
              </a:ext>
            </a:extLst>
          </p:cNvPr>
          <p:cNvPicPr>
            <a:picLocks noChangeAspect="1"/>
          </p:cNvPicPr>
          <p:nvPr/>
        </p:nvPicPr>
        <p:blipFill>
          <a:blip r:embed="rId3">
            <a:extLst>
              <a:ext uri="{28A0092B-C50C-407E-A947-70E740481C1C}">
                <a14:useLocalDpi xmlns:a14="http://schemas.microsoft.com/office/drawing/2010/main" val="0"/>
              </a:ext>
            </a:extLst>
          </a:blip>
          <a:srcRect l="9081" t="8275" r="9182" b="7204"/>
          <a:stretch/>
        </p:blipFill>
        <p:spPr>
          <a:xfrm>
            <a:off x="7371896" y="3636578"/>
            <a:ext cx="4672959" cy="3221421"/>
          </a:xfrm>
          <a:prstGeom prst="rect">
            <a:avLst/>
          </a:prstGeom>
        </p:spPr>
      </p:pic>
    </p:spTree>
    <p:extLst>
      <p:ext uri="{BB962C8B-B14F-4D97-AF65-F5344CB8AC3E}">
        <p14:creationId xmlns:p14="http://schemas.microsoft.com/office/powerpoint/2010/main" val="33309348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B15D6-91D5-C735-EB38-083C29B648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0178C0-400F-8614-7ED4-F1909F418FC1}"/>
              </a:ext>
            </a:extLst>
          </p:cNvPr>
          <p:cNvSpPr>
            <a:spLocks noGrp="1"/>
          </p:cNvSpPr>
          <p:nvPr>
            <p:ph type="title"/>
          </p:nvPr>
        </p:nvSpPr>
        <p:spPr/>
        <p:txBody>
          <a:bodyPr/>
          <a:lstStyle/>
          <a:p>
            <a:r>
              <a:rPr lang="en-US" dirty="0"/>
              <a:t>SVM Performance (cont.)</a:t>
            </a:r>
          </a:p>
        </p:txBody>
      </p:sp>
      <p:sp>
        <p:nvSpPr>
          <p:cNvPr id="3" name="Content Placeholder 2">
            <a:extLst>
              <a:ext uri="{FF2B5EF4-FFF2-40B4-BE49-F238E27FC236}">
                <a16:creationId xmlns:a16="http://schemas.microsoft.com/office/drawing/2014/main" id="{0AAA5085-E037-1B44-A296-BFA48E77F6F2}"/>
              </a:ext>
            </a:extLst>
          </p:cNvPr>
          <p:cNvSpPr>
            <a:spLocks noGrp="1"/>
          </p:cNvSpPr>
          <p:nvPr>
            <p:ph idx="1"/>
          </p:nvPr>
        </p:nvSpPr>
        <p:spPr>
          <a:xfrm>
            <a:off x="451945" y="1382110"/>
            <a:ext cx="6243145" cy="5207876"/>
          </a:xfrm>
        </p:spPr>
        <p:txBody>
          <a:bodyPr/>
          <a:lstStyle/>
          <a:p>
            <a:r>
              <a:rPr lang="en-US" dirty="0"/>
              <a:t>Using arbitrary C values of 0.01, 0.1, 1, 10, and 15, we can test the performance of the model as C—the trade-off between achieving a low error and a large margin—increases.  From looking at the 5 plots to the right, we can see that changing the C value has very little effect on our data.  In fact, the only plot that has different performance scores is the plot with C = 0.01, though the scores did not change much.  This implies that our data’s separation is very good.</a:t>
            </a:r>
          </a:p>
        </p:txBody>
      </p:sp>
      <p:pic>
        <p:nvPicPr>
          <p:cNvPr id="5" name="Picture 4" descr="A group of blue rectangular objects&#10;&#10;AI-generated content may be incorrect.">
            <a:extLst>
              <a:ext uri="{FF2B5EF4-FFF2-40B4-BE49-F238E27FC236}">
                <a16:creationId xmlns:a16="http://schemas.microsoft.com/office/drawing/2014/main" id="{79186A28-60A9-E29B-4225-C8D7F5B46A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8500" y="0"/>
            <a:ext cx="5143500" cy="6858000"/>
          </a:xfrm>
          <a:prstGeom prst="rect">
            <a:avLst/>
          </a:prstGeom>
        </p:spPr>
      </p:pic>
    </p:spTree>
    <p:extLst>
      <p:ext uri="{BB962C8B-B14F-4D97-AF65-F5344CB8AC3E}">
        <p14:creationId xmlns:p14="http://schemas.microsoft.com/office/powerpoint/2010/main" val="6284732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F9F09-2131-79FB-3E97-2CD08A891F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E45C74-831C-4105-5959-3F99B7CDD0F5}"/>
              </a:ext>
            </a:extLst>
          </p:cNvPr>
          <p:cNvSpPr>
            <a:spLocks noGrp="1"/>
          </p:cNvSpPr>
          <p:nvPr>
            <p:ph type="title"/>
          </p:nvPr>
        </p:nvSpPr>
        <p:spPr>
          <a:xfrm>
            <a:off x="0" y="0"/>
            <a:ext cx="10515600" cy="1325563"/>
          </a:xfrm>
        </p:spPr>
        <p:txBody>
          <a:bodyPr/>
          <a:lstStyle/>
          <a:p>
            <a:r>
              <a:rPr lang="en-US" dirty="0"/>
              <a:t>SVM Error Curves</a:t>
            </a:r>
          </a:p>
        </p:txBody>
      </p:sp>
      <p:sp>
        <p:nvSpPr>
          <p:cNvPr id="3" name="Content Placeholder 2">
            <a:extLst>
              <a:ext uri="{FF2B5EF4-FFF2-40B4-BE49-F238E27FC236}">
                <a16:creationId xmlns:a16="http://schemas.microsoft.com/office/drawing/2014/main" id="{C7B157B6-120E-35F3-DF77-BD503A9341B9}"/>
              </a:ext>
            </a:extLst>
          </p:cNvPr>
          <p:cNvSpPr>
            <a:spLocks noGrp="1"/>
          </p:cNvSpPr>
          <p:nvPr>
            <p:ph idx="1"/>
          </p:nvPr>
        </p:nvSpPr>
        <p:spPr>
          <a:xfrm>
            <a:off x="162910" y="1051034"/>
            <a:ext cx="7556938" cy="5407573"/>
          </a:xfrm>
        </p:spPr>
        <p:txBody>
          <a:bodyPr>
            <a:normAutofit/>
          </a:bodyPr>
          <a:lstStyle/>
          <a:p>
            <a:r>
              <a:rPr lang="en-US" dirty="0"/>
              <a:t>Similar to our ANN model, the ROC curve for our SVM model is really good with the curve resembling a near-perfect right angle and having a near-perfect AUC score of 0.9912.  The Accuracy/Loss curves, however, fluctuate very much with no noticeable pattern to the fluctuation.  Additionally, the accuracy values seem to stay in the same general range between 0.85 to 0.9.  Considering the results of the random tests in the previous slide, this makes sense as for our data, changing the parameters makes little to no difference.</a:t>
            </a:r>
          </a:p>
        </p:txBody>
      </p:sp>
      <p:pic>
        <p:nvPicPr>
          <p:cNvPr id="6" name="Picture 5" descr="A graph of a function&#10;&#10;AI-generated content may be incorrect.">
            <a:extLst>
              <a:ext uri="{FF2B5EF4-FFF2-40B4-BE49-F238E27FC236}">
                <a16:creationId xmlns:a16="http://schemas.microsoft.com/office/drawing/2014/main" id="{2B96B902-848E-C719-06F8-D5FF493F51CE}"/>
              </a:ext>
            </a:extLst>
          </p:cNvPr>
          <p:cNvPicPr>
            <a:picLocks noChangeAspect="1"/>
          </p:cNvPicPr>
          <p:nvPr/>
        </p:nvPicPr>
        <p:blipFill>
          <a:blip r:embed="rId2">
            <a:extLst>
              <a:ext uri="{28A0092B-C50C-407E-A947-70E740481C1C}">
                <a14:useLocalDpi xmlns:a14="http://schemas.microsoft.com/office/drawing/2010/main" val="0"/>
              </a:ext>
            </a:extLst>
          </a:blip>
          <a:srcRect l="4669" t="7280" r="8405" b="3640"/>
          <a:stretch/>
        </p:blipFill>
        <p:spPr>
          <a:xfrm>
            <a:off x="7952827" y="63062"/>
            <a:ext cx="4239173" cy="3258207"/>
          </a:xfrm>
          <a:prstGeom prst="rect">
            <a:avLst/>
          </a:prstGeom>
        </p:spPr>
      </p:pic>
      <p:pic>
        <p:nvPicPr>
          <p:cNvPr id="9" name="Picture 8" descr="A graph of a person&#10;&#10;AI-generated content may be incorrect.">
            <a:extLst>
              <a:ext uri="{FF2B5EF4-FFF2-40B4-BE49-F238E27FC236}">
                <a16:creationId xmlns:a16="http://schemas.microsoft.com/office/drawing/2014/main" id="{40A37E20-1191-31BC-BF01-94AA63E75D0F}"/>
              </a:ext>
            </a:extLst>
          </p:cNvPr>
          <p:cNvPicPr>
            <a:picLocks noChangeAspect="1"/>
          </p:cNvPicPr>
          <p:nvPr/>
        </p:nvPicPr>
        <p:blipFill>
          <a:blip r:embed="rId3">
            <a:extLst>
              <a:ext uri="{28A0092B-C50C-407E-A947-70E740481C1C}">
                <a14:useLocalDpi xmlns:a14="http://schemas.microsoft.com/office/drawing/2010/main" val="0"/>
              </a:ext>
            </a:extLst>
          </a:blip>
          <a:srcRect l="7842" t="8200" r="8940" b="5211"/>
          <a:stretch/>
        </p:blipFill>
        <p:spPr>
          <a:xfrm>
            <a:off x="7679690" y="3603051"/>
            <a:ext cx="4512310" cy="3130086"/>
          </a:xfrm>
          <a:prstGeom prst="rect">
            <a:avLst/>
          </a:prstGeom>
        </p:spPr>
      </p:pic>
    </p:spTree>
    <p:extLst>
      <p:ext uri="{BB962C8B-B14F-4D97-AF65-F5344CB8AC3E}">
        <p14:creationId xmlns:p14="http://schemas.microsoft.com/office/powerpoint/2010/main" val="10598440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F0ECA-9468-510B-AD53-E592810E6AFB}"/>
              </a:ext>
            </a:extLst>
          </p:cNvPr>
          <p:cNvSpPr>
            <a:spLocks noGrp="1"/>
          </p:cNvSpPr>
          <p:nvPr>
            <p:ph type="title"/>
          </p:nvPr>
        </p:nvSpPr>
        <p:spPr>
          <a:xfrm>
            <a:off x="160283" y="96499"/>
            <a:ext cx="4490545" cy="1325563"/>
          </a:xfrm>
        </p:spPr>
        <p:txBody>
          <a:bodyPr/>
          <a:lstStyle/>
          <a:p>
            <a:r>
              <a:rPr lang="en-US" dirty="0"/>
              <a:t>Model Comparison</a:t>
            </a:r>
          </a:p>
        </p:txBody>
      </p:sp>
      <p:pic>
        <p:nvPicPr>
          <p:cNvPr id="5" name="Content Placeholder 4" descr="A blue rectangular bars with white text&#10;&#10;AI-generated content may be incorrect.">
            <a:extLst>
              <a:ext uri="{FF2B5EF4-FFF2-40B4-BE49-F238E27FC236}">
                <a16:creationId xmlns:a16="http://schemas.microsoft.com/office/drawing/2014/main" id="{65305C64-F86A-B3C3-B19C-25B6A828638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8868" t="7924" r="9550" b="7503"/>
          <a:stretch/>
        </p:blipFill>
        <p:spPr>
          <a:xfrm>
            <a:off x="0" y="1422062"/>
            <a:ext cx="3120665" cy="2156709"/>
          </a:xfrm>
        </p:spPr>
      </p:pic>
      <p:pic>
        <p:nvPicPr>
          <p:cNvPr id="7" name="Picture 6" descr="A blue rectangular bars with white text&#10;&#10;AI-generated content may be incorrect.">
            <a:extLst>
              <a:ext uri="{FF2B5EF4-FFF2-40B4-BE49-F238E27FC236}">
                <a16:creationId xmlns:a16="http://schemas.microsoft.com/office/drawing/2014/main" id="{EFC65216-AB78-5460-8408-7ACCE4FF7497}"/>
              </a:ext>
            </a:extLst>
          </p:cNvPr>
          <p:cNvPicPr>
            <a:picLocks noChangeAspect="1"/>
          </p:cNvPicPr>
          <p:nvPr/>
        </p:nvPicPr>
        <p:blipFill>
          <a:blip r:embed="rId3">
            <a:extLst>
              <a:ext uri="{28A0092B-C50C-407E-A947-70E740481C1C}">
                <a14:useLocalDpi xmlns:a14="http://schemas.microsoft.com/office/drawing/2010/main" val="0"/>
              </a:ext>
            </a:extLst>
          </a:blip>
          <a:srcRect l="8635" t="7983" r="8861" b="6496"/>
          <a:stretch/>
        </p:blipFill>
        <p:spPr>
          <a:xfrm>
            <a:off x="3178472" y="1422063"/>
            <a:ext cx="3120947" cy="2156708"/>
          </a:xfrm>
          <a:prstGeom prst="rect">
            <a:avLst/>
          </a:prstGeom>
        </p:spPr>
      </p:pic>
      <p:pic>
        <p:nvPicPr>
          <p:cNvPr id="9" name="Picture 8" descr="A blue rectangular bars with white text&#10;&#10;AI-generated content may be incorrect.">
            <a:extLst>
              <a:ext uri="{FF2B5EF4-FFF2-40B4-BE49-F238E27FC236}">
                <a16:creationId xmlns:a16="http://schemas.microsoft.com/office/drawing/2014/main" id="{0625681E-D22F-9B97-78BE-AD35B14F9DF2}"/>
              </a:ext>
            </a:extLst>
          </p:cNvPr>
          <p:cNvPicPr>
            <a:picLocks noChangeAspect="1"/>
          </p:cNvPicPr>
          <p:nvPr/>
        </p:nvPicPr>
        <p:blipFill>
          <a:blip r:embed="rId4">
            <a:extLst>
              <a:ext uri="{28A0092B-C50C-407E-A947-70E740481C1C}">
                <a14:useLocalDpi xmlns:a14="http://schemas.microsoft.com/office/drawing/2010/main" val="0"/>
              </a:ext>
            </a:extLst>
          </a:blip>
          <a:srcRect l="7895" t="7860" r="8269" b="6959"/>
          <a:stretch/>
        </p:blipFill>
        <p:spPr>
          <a:xfrm>
            <a:off x="1" y="3578771"/>
            <a:ext cx="3183968" cy="2156708"/>
          </a:xfrm>
          <a:prstGeom prst="rect">
            <a:avLst/>
          </a:prstGeom>
        </p:spPr>
      </p:pic>
      <p:pic>
        <p:nvPicPr>
          <p:cNvPr id="11" name="Picture 10" descr="A blue rectangular bars with white text&#10;&#10;AI-generated content may be incorrect.">
            <a:extLst>
              <a:ext uri="{FF2B5EF4-FFF2-40B4-BE49-F238E27FC236}">
                <a16:creationId xmlns:a16="http://schemas.microsoft.com/office/drawing/2014/main" id="{1681AD3E-BD8C-C94F-1C22-49AB7269E913}"/>
              </a:ext>
            </a:extLst>
          </p:cNvPr>
          <p:cNvPicPr>
            <a:picLocks noChangeAspect="1"/>
          </p:cNvPicPr>
          <p:nvPr/>
        </p:nvPicPr>
        <p:blipFill>
          <a:blip r:embed="rId5">
            <a:extLst>
              <a:ext uri="{28A0092B-C50C-407E-A947-70E740481C1C}">
                <a14:useLocalDpi xmlns:a14="http://schemas.microsoft.com/office/drawing/2010/main" val="0"/>
              </a:ext>
            </a:extLst>
          </a:blip>
          <a:srcRect l="8492" t="8053" r="8577" b="7023"/>
          <a:stretch/>
        </p:blipFill>
        <p:spPr>
          <a:xfrm>
            <a:off x="3159369" y="3557355"/>
            <a:ext cx="3159151" cy="2156707"/>
          </a:xfrm>
          <a:prstGeom prst="rect">
            <a:avLst/>
          </a:prstGeom>
        </p:spPr>
      </p:pic>
      <p:sp>
        <p:nvSpPr>
          <p:cNvPr id="13" name="Content Placeholder 2">
            <a:extLst>
              <a:ext uri="{FF2B5EF4-FFF2-40B4-BE49-F238E27FC236}">
                <a16:creationId xmlns:a16="http://schemas.microsoft.com/office/drawing/2014/main" id="{5A34A4BF-DB18-B64A-C4F1-9A2DB4B793B1}"/>
              </a:ext>
            </a:extLst>
          </p:cNvPr>
          <p:cNvSpPr txBox="1">
            <a:spLocks/>
          </p:cNvSpPr>
          <p:nvPr/>
        </p:nvSpPr>
        <p:spPr>
          <a:xfrm>
            <a:off x="6445469" y="1397876"/>
            <a:ext cx="5586248" cy="40622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Looking at the performance scores for each of the four models, we can very clearly see that the worst performing model was KNN and that the best performing model was ANN.  SVM takes second place with its performance being very close to ANN’s, but the DT falls closer to KNN in its accuracy.</a:t>
            </a:r>
          </a:p>
        </p:txBody>
      </p:sp>
    </p:spTree>
    <p:extLst>
      <p:ext uri="{BB962C8B-B14F-4D97-AF65-F5344CB8AC3E}">
        <p14:creationId xmlns:p14="http://schemas.microsoft.com/office/powerpoint/2010/main" val="2528207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AE8C7-919C-171E-9E18-35AF8BEA431C}"/>
              </a:ext>
            </a:extLst>
          </p:cNvPr>
          <p:cNvSpPr>
            <a:spLocks noGrp="1"/>
          </p:cNvSpPr>
          <p:nvPr>
            <p:ph type="title"/>
          </p:nvPr>
        </p:nvSpPr>
        <p:spPr>
          <a:xfrm>
            <a:off x="838200" y="365125"/>
            <a:ext cx="7118131" cy="1325563"/>
          </a:xfrm>
        </p:spPr>
        <p:txBody>
          <a:bodyPr/>
          <a:lstStyle/>
          <a:p>
            <a:r>
              <a:rPr lang="en-US" dirty="0"/>
              <a:t>Best/Worst Model’s Plots Compared to the Truth Values</a:t>
            </a:r>
          </a:p>
        </p:txBody>
      </p:sp>
      <p:sp>
        <p:nvSpPr>
          <p:cNvPr id="3" name="Content Placeholder 2">
            <a:extLst>
              <a:ext uri="{FF2B5EF4-FFF2-40B4-BE49-F238E27FC236}">
                <a16:creationId xmlns:a16="http://schemas.microsoft.com/office/drawing/2014/main" id="{A0BED843-281F-5D1B-60EE-9F2CB3A78B82}"/>
              </a:ext>
            </a:extLst>
          </p:cNvPr>
          <p:cNvSpPr>
            <a:spLocks noGrp="1"/>
          </p:cNvSpPr>
          <p:nvPr>
            <p:ph idx="1"/>
          </p:nvPr>
        </p:nvSpPr>
        <p:spPr>
          <a:xfrm>
            <a:off x="801413" y="1690688"/>
            <a:ext cx="7764518" cy="4899298"/>
          </a:xfrm>
        </p:spPr>
        <p:txBody>
          <a:bodyPr/>
          <a:lstStyle/>
          <a:p>
            <a:r>
              <a:rPr lang="en-US" dirty="0"/>
              <a:t>For the best (ANN) and worst (KNN) models’ plots, we can notice some data points being classified differently between the two models.  For example, ANN misclassified the datapoint at around (-5, 5) while KNN classified it accurately.  ANN, however, has less noticeable misclassified datapoints than KNN does.  This is to be expected since by looking at the original data’s plot, we can see that there is a clear overlap between the classes, so a distance-based algorithm like KNN will likely misclassify datapoints in the overlapping regions</a:t>
            </a:r>
          </a:p>
        </p:txBody>
      </p:sp>
      <p:pic>
        <p:nvPicPr>
          <p:cNvPr id="5" name="Picture 4" descr="A chart with blue and orange dots&#10;&#10;AI-generated content may be incorrect.">
            <a:extLst>
              <a:ext uri="{FF2B5EF4-FFF2-40B4-BE49-F238E27FC236}">
                <a16:creationId xmlns:a16="http://schemas.microsoft.com/office/drawing/2014/main" id="{A5896A92-2649-9142-31F5-F63E3755537C}"/>
              </a:ext>
            </a:extLst>
          </p:cNvPr>
          <p:cNvPicPr>
            <a:picLocks noChangeAspect="1"/>
          </p:cNvPicPr>
          <p:nvPr/>
        </p:nvPicPr>
        <p:blipFill>
          <a:blip r:embed="rId2">
            <a:extLst>
              <a:ext uri="{28A0092B-C50C-407E-A947-70E740481C1C}">
                <a14:useLocalDpi xmlns:a14="http://schemas.microsoft.com/office/drawing/2010/main" val="0"/>
              </a:ext>
            </a:extLst>
          </a:blip>
          <a:srcRect l="8692" t="7377" r="9051" b="6654"/>
          <a:stretch/>
        </p:blipFill>
        <p:spPr>
          <a:xfrm>
            <a:off x="9238928" y="4627542"/>
            <a:ext cx="2845476" cy="2230458"/>
          </a:xfrm>
          <a:prstGeom prst="rect">
            <a:avLst/>
          </a:prstGeom>
        </p:spPr>
      </p:pic>
      <p:pic>
        <p:nvPicPr>
          <p:cNvPr id="7" name="Picture 6" descr="A chart with blue and orange dots&#10;&#10;AI-generated content may be incorrect.">
            <a:extLst>
              <a:ext uri="{FF2B5EF4-FFF2-40B4-BE49-F238E27FC236}">
                <a16:creationId xmlns:a16="http://schemas.microsoft.com/office/drawing/2014/main" id="{E0909875-8411-B713-68BE-4A9ACF74732B}"/>
              </a:ext>
            </a:extLst>
          </p:cNvPr>
          <p:cNvPicPr>
            <a:picLocks noChangeAspect="1"/>
          </p:cNvPicPr>
          <p:nvPr/>
        </p:nvPicPr>
        <p:blipFill>
          <a:blip r:embed="rId3">
            <a:extLst>
              <a:ext uri="{28A0092B-C50C-407E-A947-70E740481C1C}">
                <a14:useLocalDpi xmlns:a14="http://schemas.microsoft.com/office/drawing/2010/main" val="0"/>
              </a:ext>
            </a:extLst>
          </a:blip>
          <a:srcRect l="8692" t="8093" r="8836" b="6562"/>
          <a:stretch/>
        </p:blipFill>
        <p:spPr>
          <a:xfrm>
            <a:off x="9238928" y="2313771"/>
            <a:ext cx="2873811" cy="2230457"/>
          </a:xfrm>
          <a:prstGeom prst="rect">
            <a:avLst/>
          </a:prstGeom>
        </p:spPr>
      </p:pic>
      <p:pic>
        <p:nvPicPr>
          <p:cNvPr id="9" name="Picture 8" descr="A diagram of a graph&#10;&#10;AI-generated content may be incorrect.">
            <a:extLst>
              <a:ext uri="{FF2B5EF4-FFF2-40B4-BE49-F238E27FC236}">
                <a16:creationId xmlns:a16="http://schemas.microsoft.com/office/drawing/2014/main" id="{F1547CE3-36E1-8752-B798-29B82EC680AE}"/>
              </a:ext>
            </a:extLst>
          </p:cNvPr>
          <p:cNvPicPr>
            <a:picLocks noChangeAspect="1"/>
          </p:cNvPicPr>
          <p:nvPr/>
        </p:nvPicPr>
        <p:blipFill>
          <a:blip r:embed="rId4">
            <a:extLst>
              <a:ext uri="{28A0092B-C50C-407E-A947-70E740481C1C}">
                <a14:useLocalDpi xmlns:a14="http://schemas.microsoft.com/office/drawing/2010/main" val="0"/>
              </a:ext>
            </a:extLst>
          </a:blip>
          <a:srcRect l="3376" t="7232" r="8980" b="3209"/>
          <a:stretch/>
        </p:blipFill>
        <p:spPr>
          <a:xfrm>
            <a:off x="9174074" y="57806"/>
            <a:ext cx="2910330" cy="2230458"/>
          </a:xfrm>
          <a:prstGeom prst="rect">
            <a:avLst/>
          </a:prstGeom>
        </p:spPr>
      </p:pic>
    </p:spTree>
    <p:extLst>
      <p:ext uri="{BB962C8B-B14F-4D97-AF65-F5344CB8AC3E}">
        <p14:creationId xmlns:p14="http://schemas.microsoft.com/office/powerpoint/2010/main" val="11299276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94AE6-0DAB-25A2-52EA-C2C4643A986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B95C789F-527E-DA16-A8C4-52753BC3FA42}"/>
              </a:ext>
            </a:extLst>
          </p:cNvPr>
          <p:cNvSpPr>
            <a:spLocks noGrp="1"/>
          </p:cNvSpPr>
          <p:nvPr>
            <p:ph idx="1"/>
          </p:nvPr>
        </p:nvSpPr>
        <p:spPr/>
        <p:txBody>
          <a:bodyPr/>
          <a:lstStyle/>
          <a:p>
            <a:r>
              <a:rPr lang="en-US" dirty="0"/>
              <a:t>While all four models performed great, there were some that clearly worked better on our dataset.  The ranking of the four models used on our data is ANN in 1</a:t>
            </a:r>
            <a:r>
              <a:rPr lang="en-US" baseline="30000" dirty="0"/>
              <a:t>st</a:t>
            </a:r>
            <a:r>
              <a:rPr lang="en-US" dirty="0"/>
              <a:t> place, SVM in 2</a:t>
            </a:r>
            <a:r>
              <a:rPr lang="en-US" baseline="30000" dirty="0"/>
              <a:t>nd</a:t>
            </a:r>
            <a:r>
              <a:rPr lang="en-US" dirty="0"/>
              <a:t> place, DT in 3</a:t>
            </a:r>
            <a:r>
              <a:rPr lang="en-US" baseline="30000" dirty="0"/>
              <a:t>rd</a:t>
            </a:r>
            <a:r>
              <a:rPr lang="en-US" dirty="0"/>
              <a:t> place, and KNN in 4</a:t>
            </a:r>
            <a:r>
              <a:rPr lang="en-US" baseline="30000" dirty="0"/>
              <a:t>th</a:t>
            </a:r>
            <a:r>
              <a:rPr lang="en-US" dirty="0"/>
              <a:t> place.  This ranking is specifically for our data, so it does not imply that these are better overall.  While KNN was not perfect for our dataset due to its structure, it may be the best model for other datasets.</a:t>
            </a:r>
          </a:p>
        </p:txBody>
      </p:sp>
    </p:spTree>
    <p:extLst>
      <p:ext uri="{BB962C8B-B14F-4D97-AF65-F5344CB8AC3E}">
        <p14:creationId xmlns:p14="http://schemas.microsoft.com/office/powerpoint/2010/main" val="37442843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8F779-1487-D793-2235-8601AF3043E4}"/>
              </a:ext>
            </a:extLst>
          </p:cNvPr>
          <p:cNvSpPr>
            <a:spLocks noGrp="1"/>
          </p:cNvSpPr>
          <p:nvPr>
            <p:ph type="title"/>
          </p:nvPr>
        </p:nvSpPr>
        <p:spPr/>
        <p:txBody>
          <a:bodyPr/>
          <a:lstStyle/>
          <a:p>
            <a:r>
              <a:rPr lang="en-US" dirty="0"/>
              <a:t>Task Completion Report</a:t>
            </a:r>
          </a:p>
        </p:txBody>
      </p:sp>
      <p:graphicFrame>
        <p:nvGraphicFramePr>
          <p:cNvPr id="4" name="Content Placeholder 3">
            <a:extLst>
              <a:ext uri="{FF2B5EF4-FFF2-40B4-BE49-F238E27FC236}">
                <a16:creationId xmlns:a16="http://schemas.microsoft.com/office/drawing/2014/main" id="{B0DD1312-69BF-5387-A32E-DB582CCA2598}"/>
              </a:ext>
            </a:extLst>
          </p:cNvPr>
          <p:cNvGraphicFramePr>
            <a:graphicFrameLocks noGrp="1"/>
          </p:cNvGraphicFramePr>
          <p:nvPr>
            <p:ph idx="1"/>
            <p:extLst>
              <p:ext uri="{D42A27DB-BD31-4B8C-83A1-F6EECF244321}">
                <p14:modId xmlns:p14="http://schemas.microsoft.com/office/powerpoint/2010/main" val="1388284262"/>
              </p:ext>
            </p:extLst>
          </p:nvPr>
        </p:nvGraphicFramePr>
        <p:xfrm>
          <a:off x="838200" y="1363170"/>
          <a:ext cx="10515600" cy="481584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1157250935"/>
                    </a:ext>
                  </a:extLst>
                </a:gridCol>
                <a:gridCol w="2628900">
                  <a:extLst>
                    <a:ext uri="{9D8B030D-6E8A-4147-A177-3AD203B41FA5}">
                      <a16:colId xmlns:a16="http://schemas.microsoft.com/office/drawing/2014/main" val="3129236962"/>
                    </a:ext>
                  </a:extLst>
                </a:gridCol>
                <a:gridCol w="2628900">
                  <a:extLst>
                    <a:ext uri="{9D8B030D-6E8A-4147-A177-3AD203B41FA5}">
                      <a16:colId xmlns:a16="http://schemas.microsoft.com/office/drawing/2014/main" val="4095453772"/>
                    </a:ext>
                  </a:extLst>
                </a:gridCol>
                <a:gridCol w="2628900">
                  <a:extLst>
                    <a:ext uri="{9D8B030D-6E8A-4147-A177-3AD203B41FA5}">
                      <a16:colId xmlns:a16="http://schemas.microsoft.com/office/drawing/2014/main" val="644829918"/>
                    </a:ext>
                  </a:extLst>
                </a:gridCol>
              </a:tblGrid>
              <a:tr h="370840">
                <a:tc>
                  <a:txBody>
                    <a:bodyPr/>
                    <a:lstStyle/>
                    <a:p>
                      <a:r>
                        <a:rPr lang="en-US" dirty="0"/>
                        <a:t>Date</a:t>
                      </a:r>
                    </a:p>
                  </a:txBody>
                  <a:tcPr/>
                </a:tc>
                <a:tc>
                  <a:txBody>
                    <a:bodyPr/>
                    <a:lstStyle/>
                    <a:p>
                      <a:r>
                        <a:rPr lang="en-US" dirty="0"/>
                        <a:t>Task Name</a:t>
                      </a:r>
                    </a:p>
                  </a:txBody>
                  <a:tcPr/>
                </a:tc>
                <a:tc>
                  <a:txBody>
                    <a:bodyPr/>
                    <a:lstStyle/>
                    <a:p>
                      <a:r>
                        <a:rPr lang="en-US" dirty="0"/>
                        <a:t>Status</a:t>
                      </a:r>
                    </a:p>
                  </a:txBody>
                  <a:tcPr/>
                </a:tc>
                <a:tc>
                  <a:txBody>
                    <a:bodyPr/>
                    <a:lstStyle/>
                    <a:p>
                      <a:r>
                        <a:rPr lang="en-US" dirty="0"/>
                        <a:t>Person</a:t>
                      </a:r>
                    </a:p>
                  </a:txBody>
                  <a:tcPr/>
                </a:tc>
                <a:extLst>
                  <a:ext uri="{0D108BD9-81ED-4DB2-BD59-A6C34878D82A}">
                    <a16:rowId xmlns:a16="http://schemas.microsoft.com/office/drawing/2014/main" val="3576566391"/>
                  </a:ext>
                </a:extLst>
              </a:tr>
              <a:tr h="370840">
                <a:tc>
                  <a:txBody>
                    <a:bodyPr/>
                    <a:lstStyle/>
                    <a:p>
                      <a:r>
                        <a:rPr lang="en-US" dirty="0"/>
                        <a:t>03/28/2025</a:t>
                      </a:r>
                    </a:p>
                  </a:txBody>
                  <a:tcPr/>
                </a:tc>
                <a:tc>
                  <a:txBody>
                    <a:bodyPr/>
                    <a:lstStyle/>
                    <a:p>
                      <a:r>
                        <a:rPr lang="en-US" dirty="0"/>
                        <a:t>Preprocessing</a:t>
                      </a:r>
                    </a:p>
                  </a:txBody>
                  <a:tcPr/>
                </a:tc>
                <a:tc>
                  <a:txBody>
                    <a:bodyPr/>
                    <a:lstStyle/>
                    <a:p>
                      <a:r>
                        <a:rPr lang="en-US" dirty="0"/>
                        <a:t>Done</a:t>
                      </a:r>
                    </a:p>
                  </a:txBody>
                  <a:tcPr/>
                </a:tc>
                <a:tc>
                  <a:txBody>
                    <a:bodyPr/>
                    <a:lstStyle/>
                    <a:p>
                      <a:r>
                        <a:rPr lang="en-US" dirty="0"/>
                        <a:t>Rhett Hill</a:t>
                      </a:r>
                    </a:p>
                  </a:txBody>
                  <a:tcPr/>
                </a:tc>
                <a:extLst>
                  <a:ext uri="{0D108BD9-81ED-4DB2-BD59-A6C34878D82A}">
                    <a16:rowId xmlns:a16="http://schemas.microsoft.com/office/drawing/2014/main" val="1783881005"/>
                  </a:ext>
                </a:extLst>
              </a:tr>
              <a:tr h="370840">
                <a:tc>
                  <a:txBody>
                    <a:bodyPr/>
                    <a:lstStyle/>
                    <a:p>
                      <a:r>
                        <a:rPr lang="en-US" dirty="0"/>
                        <a:t>03/28/2025</a:t>
                      </a:r>
                    </a:p>
                  </a:txBody>
                  <a:tcPr/>
                </a:tc>
                <a:tc>
                  <a:txBody>
                    <a:bodyPr/>
                    <a:lstStyle/>
                    <a:p>
                      <a:r>
                        <a:rPr lang="en-US" dirty="0"/>
                        <a:t>Preprocessing</a:t>
                      </a:r>
                    </a:p>
                  </a:txBody>
                  <a:tcPr/>
                </a:tc>
                <a:tc>
                  <a:txBody>
                    <a:bodyPr/>
                    <a:lstStyle/>
                    <a:p>
                      <a:r>
                        <a:rPr lang="en-US" dirty="0"/>
                        <a:t>Done</a:t>
                      </a:r>
                    </a:p>
                  </a:txBody>
                  <a:tcPr/>
                </a:tc>
                <a:tc>
                  <a:txBody>
                    <a:bodyPr/>
                    <a:lstStyle/>
                    <a:p>
                      <a:r>
                        <a:rPr lang="en-US" dirty="0"/>
                        <a:t>Zachary Gros</a:t>
                      </a:r>
                    </a:p>
                  </a:txBody>
                  <a:tcPr/>
                </a:tc>
                <a:extLst>
                  <a:ext uri="{0D108BD9-81ED-4DB2-BD59-A6C34878D82A}">
                    <a16:rowId xmlns:a16="http://schemas.microsoft.com/office/drawing/2014/main" val="3440947152"/>
                  </a:ext>
                </a:extLst>
              </a:tr>
              <a:tr h="370840">
                <a:tc>
                  <a:txBody>
                    <a:bodyPr/>
                    <a:lstStyle/>
                    <a:p>
                      <a:r>
                        <a:rPr lang="en-US" dirty="0"/>
                        <a:t>04/13/2025</a:t>
                      </a:r>
                    </a:p>
                  </a:txBody>
                  <a:tcPr/>
                </a:tc>
                <a:tc>
                  <a:txBody>
                    <a:bodyPr/>
                    <a:lstStyle/>
                    <a:p>
                      <a:r>
                        <a:rPr lang="en-US" dirty="0"/>
                        <a:t>Feature Extraction</a:t>
                      </a:r>
                    </a:p>
                  </a:txBody>
                  <a:tcPr/>
                </a:tc>
                <a:tc>
                  <a:txBody>
                    <a:bodyPr/>
                    <a:lstStyle/>
                    <a:p>
                      <a:r>
                        <a:rPr lang="en-US" dirty="0"/>
                        <a:t>Done</a:t>
                      </a:r>
                    </a:p>
                  </a:txBody>
                  <a:tcPr/>
                </a:tc>
                <a:tc>
                  <a:txBody>
                    <a:bodyPr/>
                    <a:lstStyle/>
                    <a:p>
                      <a:r>
                        <a:rPr lang="en-US" dirty="0"/>
                        <a:t>Rhett Hill</a:t>
                      </a:r>
                    </a:p>
                  </a:txBody>
                  <a:tcPr/>
                </a:tc>
                <a:extLst>
                  <a:ext uri="{0D108BD9-81ED-4DB2-BD59-A6C34878D82A}">
                    <a16:rowId xmlns:a16="http://schemas.microsoft.com/office/drawing/2014/main" val="3556711100"/>
                  </a:ext>
                </a:extLst>
              </a:tr>
              <a:tr h="370840">
                <a:tc>
                  <a:txBody>
                    <a:bodyPr/>
                    <a:lstStyle/>
                    <a:p>
                      <a:r>
                        <a:rPr lang="en-US" dirty="0"/>
                        <a:t>04/13/2025</a:t>
                      </a:r>
                    </a:p>
                  </a:txBody>
                  <a:tcPr/>
                </a:tc>
                <a:tc>
                  <a:txBody>
                    <a:bodyPr/>
                    <a:lstStyle/>
                    <a:p>
                      <a:r>
                        <a:rPr lang="en-US" dirty="0"/>
                        <a:t>Feature Extraction</a:t>
                      </a:r>
                    </a:p>
                  </a:txBody>
                  <a:tcPr/>
                </a:tc>
                <a:tc>
                  <a:txBody>
                    <a:bodyPr/>
                    <a:lstStyle/>
                    <a:p>
                      <a:r>
                        <a:rPr lang="en-US" dirty="0"/>
                        <a:t>Done</a:t>
                      </a:r>
                    </a:p>
                  </a:txBody>
                  <a:tcPr/>
                </a:tc>
                <a:tc>
                  <a:txBody>
                    <a:bodyPr/>
                    <a:lstStyle/>
                    <a:p>
                      <a:r>
                        <a:rPr lang="en-US" dirty="0"/>
                        <a:t>Zachary Gros</a:t>
                      </a:r>
                    </a:p>
                  </a:txBody>
                  <a:tcPr/>
                </a:tc>
                <a:extLst>
                  <a:ext uri="{0D108BD9-81ED-4DB2-BD59-A6C34878D82A}">
                    <a16:rowId xmlns:a16="http://schemas.microsoft.com/office/drawing/2014/main" val="1340094024"/>
                  </a:ext>
                </a:extLst>
              </a:tr>
              <a:tr h="370840">
                <a:tc>
                  <a:txBody>
                    <a:bodyPr/>
                    <a:lstStyle/>
                    <a:p>
                      <a:r>
                        <a:rPr lang="en-US" dirty="0"/>
                        <a:t>05/04/2025</a:t>
                      </a:r>
                    </a:p>
                  </a:txBody>
                  <a:tcPr/>
                </a:tc>
                <a:tc>
                  <a:txBody>
                    <a:bodyPr/>
                    <a:lstStyle/>
                    <a:p>
                      <a:r>
                        <a:rPr lang="en-US" dirty="0"/>
                        <a:t>KNN</a:t>
                      </a:r>
                    </a:p>
                  </a:txBody>
                  <a:tcPr/>
                </a:tc>
                <a:tc>
                  <a:txBody>
                    <a:bodyPr/>
                    <a:lstStyle/>
                    <a:p>
                      <a:r>
                        <a:rPr lang="en-US" dirty="0"/>
                        <a:t>Done</a:t>
                      </a:r>
                    </a:p>
                  </a:txBody>
                  <a:tcPr/>
                </a:tc>
                <a:tc>
                  <a:txBody>
                    <a:bodyPr/>
                    <a:lstStyle/>
                    <a:p>
                      <a:r>
                        <a:rPr lang="en-US" dirty="0"/>
                        <a:t>Rhett Hill</a:t>
                      </a:r>
                    </a:p>
                  </a:txBody>
                  <a:tcPr/>
                </a:tc>
                <a:extLst>
                  <a:ext uri="{0D108BD9-81ED-4DB2-BD59-A6C34878D82A}">
                    <a16:rowId xmlns:a16="http://schemas.microsoft.com/office/drawing/2014/main" val="30464917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05/04/2025</a:t>
                      </a:r>
                    </a:p>
                  </a:txBody>
                  <a:tcPr/>
                </a:tc>
                <a:tc>
                  <a:txBody>
                    <a:bodyPr/>
                    <a:lstStyle/>
                    <a:p>
                      <a:r>
                        <a:rPr lang="en-US" dirty="0"/>
                        <a:t>KNN</a:t>
                      </a:r>
                    </a:p>
                  </a:txBody>
                  <a:tcPr/>
                </a:tc>
                <a:tc>
                  <a:txBody>
                    <a:bodyPr/>
                    <a:lstStyle/>
                    <a:p>
                      <a:r>
                        <a:rPr lang="en-US" dirty="0"/>
                        <a:t>Done</a:t>
                      </a:r>
                    </a:p>
                  </a:txBody>
                  <a:tcPr/>
                </a:tc>
                <a:tc>
                  <a:txBody>
                    <a:bodyPr/>
                    <a:lstStyle/>
                    <a:p>
                      <a:r>
                        <a:rPr lang="en-US" dirty="0"/>
                        <a:t>Zachary Gros</a:t>
                      </a:r>
                    </a:p>
                  </a:txBody>
                  <a:tcPr/>
                </a:tc>
                <a:extLst>
                  <a:ext uri="{0D108BD9-81ED-4DB2-BD59-A6C34878D82A}">
                    <a16:rowId xmlns:a16="http://schemas.microsoft.com/office/drawing/2014/main" val="334005819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05/04/2025</a:t>
                      </a:r>
                    </a:p>
                  </a:txBody>
                  <a:tcPr/>
                </a:tc>
                <a:tc>
                  <a:txBody>
                    <a:bodyPr/>
                    <a:lstStyle/>
                    <a:p>
                      <a:r>
                        <a:rPr lang="en-US" dirty="0"/>
                        <a:t>Decision Tree</a:t>
                      </a:r>
                    </a:p>
                  </a:txBody>
                  <a:tcPr/>
                </a:tc>
                <a:tc>
                  <a:txBody>
                    <a:bodyPr/>
                    <a:lstStyle/>
                    <a:p>
                      <a:r>
                        <a:rPr lang="en-US" dirty="0"/>
                        <a:t>Done</a:t>
                      </a:r>
                    </a:p>
                  </a:txBody>
                  <a:tcPr/>
                </a:tc>
                <a:tc>
                  <a:txBody>
                    <a:bodyPr/>
                    <a:lstStyle/>
                    <a:p>
                      <a:r>
                        <a:rPr lang="en-US" dirty="0"/>
                        <a:t>Rhett Hill</a:t>
                      </a:r>
                    </a:p>
                  </a:txBody>
                  <a:tcPr/>
                </a:tc>
                <a:extLst>
                  <a:ext uri="{0D108BD9-81ED-4DB2-BD59-A6C34878D82A}">
                    <a16:rowId xmlns:a16="http://schemas.microsoft.com/office/drawing/2014/main" val="219765564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05/04/2025</a:t>
                      </a:r>
                    </a:p>
                  </a:txBody>
                  <a:tcPr/>
                </a:tc>
                <a:tc>
                  <a:txBody>
                    <a:bodyPr/>
                    <a:lstStyle/>
                    <a:p>
                      <a:r>
                        <a:rPr lang="en-US" dirty="0"/>
                        <a:t>Decision Tree</a:t>
                      </a:r>
                    </a:p>
                  </a:txBody>
                  <a:tcPr/>
                </a:tc>
                <a:tc>
                  <a:txBody>
                    <a:bodyPr/>
                    <a:lstStyle/>
                    <a:p>
                      <a:r>
                        <a:rPr lang="en-US" dirty="0"/>
                        <a:t>Done</a:t>
                      </a:r>
                    </a:p>
                  </a:txBody>
                  <a:tcPr/>
                </a:tc>
                <a:tc>
                  <a:txBody>
                    <a:bodyPr/>
                    <a:lstStyle/>
                    <a:p>
                      <a:r>
                        <a:rPr lang="en-US" dirty="0"/>
                        <a:t>Zachary Gros</a:t>
                      </a:r>
                    </a:p>
                  </a:txBody>
                  <a:tcPr/>
                </a:tc>
                <a:extLst>
                  <a:ext uri="{0D108BD9-81ED-4DB2-BD59-A6C34878D82A}">
                    <a16:rowId xmlns:a16="http://schemas.microsoft.com/office/drawing/2014/main" val="72772267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05/04/2025</a:t>
                      </a:r>
                    </a:p>
                  </a:txBody>
                  <a:tcPr/>
                </a:tc>
                <a:tc>
                  <a:txBody>
                    <a:bodyPr/>
                    <a:lstStyle/>
                    <a:p>
                      <a:r>
                        <a:rPr lang="en-US" dirty="0"/>
                        <a:t>ANN</a:t>
                      </a:r>
                    </a:p>
                  </a:txBody>
                  <a:tcPr/>
                </a:tc>
                <a:tc>
                  <a:txBody>
                    <a:bodyPr/>
                    <a:lstStyle/>
                    <a:p>
                      <a:r>
                        <a:rPr lang="en-US" dirty="0"/>
                        <a:t>Done</a:t>
                      </a:r>
                    </a:p>
                  </a:txBody>
                  <a:tcPr/>
                </a:tc>
                <a:tc>
                  <a:txBody>
                    <a:bodyPr/>
                    <a:lstStyle/>
                    <a:p>
                      <a:r>
                        <a:rPr lang="en-US" dirty="0"/>
                        <a:t>Rhett Hill</a:t>
                      </a:r>
                    </a:p>
                  </a:txBody>
                  <a:tcPr/>
                </a:tc>
                <a:extLst>
                  <a:ext uri="{0D108BD9-81ED-4DB2-BD59-A6C34878D82A}">
                    <a16:rowId xmlns:a16="http://schemas.microsoft.com/office/drawing/2014/main" val="40778728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05/04/2025</a:t>
                      </a:r>
                    </a:p>
                  </a:txBody>
                  <a:tcPr/>
                </a:tc>
                <a:tc>
                  <a:txBody>
                    <a:bodyPr/>
                    <a:lstStyle/>
                    <a:p>
                      <a:r>
                        <a:rPr lang="en-US" dirty="0"/>
                        <a:t>ANN</a:t>
                      </a:r>
                    </a:p>
                  </a:txBody>
                  <a:tcPr/>
                </a:tc>
                <a:tc>
                  <a:txBody>
                    <a:bodyPr/>
                    <a:lstStyle/>
                    <a:p>
                      <a:r>
                        <a:rPr lang="en-US" dirty="0"/>
                        <a:t>Done</a:t>
                      </a:r>
                    </a:p>
                  </a:txBody>
                  <a:tcPr/>
                </a:tc>
                <a:tc>
                  <a:txBody>
                    <a:bodyPr/>
                    <a:lstStyle/>
                    <a:p>
                      <a:r>
                        <a:rPr lang="en-US" dirty="0"/>
                        <a:t>Zachary Gros</a:t>
                      </a:r>
                    </a:p>
                  </a:txBody>
                  <a:tcPr/>
                </a:tc>
                <a:extLst>
                  <a:ext uri="{0D108BD9-81ED-4DB2-BD59-A6C34878D82A}">
                    <a16:rowId xmlns:a16="http://schemas.microsoft.com/office/drawing/2014/main" val="2950373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05/04/2025</a:t>
                      </a:r>
                    </a:p>
                  </a:txBody>
                  <a:tcPr/>
                </a:tc>
                <a:tc>
                  <a:txBody>
                    <a:bodyPr/>
                    <a:lstStyle/>
                    <a:p>
                      <a:r>
                        <a:rPr lang="en-US" dirty="0"/>
                        <a:t>SVM</a:t>
                      </a:r>
                    </a:p>
                  </a:txBody>
                  <a:tcPr/>
                </a:tc>
                <a:tc>
                  <a:txBody>
                    <a:bodyPr/>
                    <a:lstStyle/>
                    <a:p>
                      <a:r>
                        <a:rPr lang="en-US" dirty="0"/>
                        <a:t>Done</a:t>
                      </a:r>
                    </a:p>
                  </a:txBody>
                  <a:tcPr/>
                </a:tc>
                <a:tc>
                  <a:txBody>
                    <a:bodyPr/>
                    <a:lstStyle/>
                    <a:p>
                      <a:r>
                        <a:rPr lang="en-US" dirty="0"/>
                        <a:t>Rhett Hill</a:t>
                      </a:r>
                    </a:p>
                  </a:txBody>
                  <a:tcPr/>
                </a:tc>
                <a:extLst>
                  <a:ext uri="{0D108BD9-81ED-4DB2-BD59-A6C34878D82A}">
                    <a16:rowId xmlns:a16="http://schemas.microsoft.com/office/drawing/2014/main" val="184544957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05/04/2025</a:t>
                      </a:r>
                    </a:p>
                  </a:txBody>
                  <a:tcPr/>
                </a:tc>
                <a:tc>
                  <a:txBody>
                    <a:bodyPr/>
                    <a:lstStyle/>
                    <a:p>
                      <a:r>
                        <a:rPr lang="en-US" dirty="0"/>
                        <a:t>SVM</a:t>
                      </a:r>
                    </a:p>
                  </a:txBody>
                  <a:tcPr/>
                </a:tc>
                <a:tc>
                  <a:txBody>
                    <a:bodyPr/>
                    <a:lstStyle/>
                    <a:p>
                      <a:r>
                        <a:rPr lang="en-US" dirty="0"/>
                        <a:t>Done</a:t>
                      </a:r>
                    </a:p>
                  </a:txBody>
                  <a:tcPr/>
                </a:tc>
                <a:tc>
                  <a:txBody>
                    <a:bodyPr/>
                    <a:lstStyle/>
                    <a:p>
                      <a:r>
                        <a:rPr lang="en-US" dirty="0"/>
                        <a:t>Zachary Gros</a:t>
                      </a:r>
                    </a:p>
                  </a:txBody>
                  <a:tcPr/>
                </a:tc>
                <a:extLst>
                  <a:ext uri="{0D108BD9-81ED-4DB2-BD59-A6C34878D82A}">
                    <a16:rowId xmlns:a16="http://schemas.microsoft.com/office/drawing/2014/main" val="3585654017"/>
                  </a:ext>
                </a:extLst>
              </a:tr>
            </a:tbl>
          </a:graphicData>
        </a:graphic>
      </p:graphicFrame>
    </p:spTree>
    <p:extLst>
      <p:ext uri="{BB962C8B-B14F-4D97-AF65-F5344CB8AC3E}">
        <p14:creationId xmlns:p14="http://schemas.microsoft.com/office/powerpoint/2010/main" val="25008008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203</TotalTime>
  <Words>2287</Words>
  <Application>Microsoft Office PowerPoint</Application>
  <PresentationFormat>Widescreen</PresentationFormat>
  <Paragraphs>122</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Aptos Display</vt:lpstr>
      <vt:lpstr>Arial</vt:lpstr>
      <vt:lpstr>Office Theme</vt:lpstr>
      <vt:lpstr>PROJECT REPORT CMPS 4700</vt:lpstr>
      <vt:lpstr>DESCRIPTION</vt:lpstr>
      <vt:lpstr>Project Description</vt:lpstr>
      <vt:lpstr>Description of the Data</vt:lpstr>
      <vt:lpstr>Raw Data Visualization</vt:lpstr>
      <vt:lpstr>Preprocessing</vt:lpstr>
      <vt:lpstr>Feature Extraction</vt:lpstr>
      <vt:lpstr>Feature Extraction (cont.)</vt:lpstr>
      <vt:lpstr>Feature Extraction (cont.)</vt:lpstr>
      <vt:lpstr>Training/Validation/Test Split</vt:lpstr>
      <vt:lpstr>KNN</vt:lpstr>
      <vt:lpstr>KNN Performance</vt:lpstr>
      <vt:lpstr>KNN Performance (cont.)</vt:lpstr>
      <vt:lpstr>KNN Error Curves</vt:lpstr>
      <vt:lpstr>DT</vt:lpstr>
      <vt:lpstr>Decision Tree Performance</vt:lpstr>
      <vt:lpstr>DT Performance (cont.)</vt:lpstr>
      <vt:lpstr>DT Error Curves</vt:lpstr>
      <vt:lpstr>ANN</vt:lpstr>
      <vt:lpstr>ANN Performance</vt:lpstr>
      <vt:lpstr>ANN Performance (cont.)</vt:lpstr>
      <vt:lpstr>ANN Error Curves</vt:lpstr>
      <vt:lpstr>SVM</vt:lpstr>
      <vt:lpstr>SVM Performance</vt:lpstr>
      <vt:lpstr>SVM Performance (cont.)</vt:lpstr>
      <vt:lpstr>SVM Error Curves</vt:lpstr>
      <vt:lpstr>Model Comparison</vt:lpstr>
      <vt:lpstr>Best/Worst Model’s Plots Compared to the Truth Values</vt:lpstr>
      <vt:lpstr>Conclusion</vt:lpstr>
      <vt:lpstr>Task Completion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Zachary Gros</dc:creator>
  <cp:lastModifiedBy>Zachary Gros</cp:lastModifiedBy>
  <cp:revision>7</cp:revision>
  <dcterms:created xsi:type="dcterms:W3CDTF">2025-05-04T17:02:19Z</dcterms:created>
  <dcterms:modified xsi:type="dcterms:W3CDTF">2025-05-04T21:22:09Z</dcterms:modified>
</cp:coreProperties>
</file>